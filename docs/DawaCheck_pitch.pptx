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your team name here before the pitch. One line: DawaCheck checks the bottle, not the leaf.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Yavatmal, 2017. Over 20 farmers died and about 800 reached hospital after spraying cotton. Doctors did not know which poison it was. The farmer had bought what the dealer gave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farmer decides what to spray based on a dealer he owes money to, cannot read or verify the label, mixes products blindly, sprays without protection and harvests without knowing the waiting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existing app answers which disease. We answer the next eight questions: is this product real, is it allowed on this crop, how much, can I mix it, how do I stay safe, what if I get sick, when can I harvest, and will the buyer accept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scan protects one farmer. A million scans map every fake batch in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AI reads the label wrong? The AI only reads; the farmer confirms the product; rules decide; every verdict cites the CIB&amp;RC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Plantix tells you the disease. DawaCheck takes responsibility for the dose, from the dealer's shop to the dinner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532D"/>
        </a:solidFill>
      </p:bgPr>
    </p:bg>
    <p:spTree>
      <p:nvGrpSpPr>
        <p:cNvPr id="1" name=""/>
        <p:cNvGrpSpPr/>
        <p:nvPr/>
      </p:nvGrpSpPr>
      <p:grpSpPr>
        <a:xfrm>
          <a:off x="0" y="0"/>
          <a:ext cx="0" cy="0"/>
          <a:chOff x="0" y="0"/>
          <a:chExt cx="0" cy="0"/>
        </a:xfrm>
      </p:grpSpPr>
      <p:sp>
        <p:nvSpPr>
          <p:cNvPr id="2" name="Text 0"/>
          <p:cNvSpPr txBox="1"/>
          <p:nvPr/>
        </p:nvSpPr>
        <p:spPr>
          <a:xfrm>
            <a:off x="548640" y="548640"/>
            <a:ext cx="5029200" cy="320040"/>
          </a:xfrm>
          <a:prstGeom prst="rect">
            <a:avLst/>
          </a:prstGeom>
          <a:noFill/>
          <a:ln/>
        </p:spPr>
        <p:txBody>
          <a:bodyPr wrap="square" lIns="0" tIns="0" rIns="0" bIns="0" rtlCol="0" anchor="ctr"/>
          <a:lstStyle/>
          <a:p>
            <a:pPr indent="0" marL="0">
              <a:buNone/>
            </a:pPr>
            <a:r>
              <a:rPr lang="en-US" sz="1400" b="1" dirty="0">
                <a:solidFill>
                  <a:srgbClr val="B7D3BF"/>
                </a:solidFill>
                <a:latin typeface="Calibri" pitchFamily="34" charset="0"/>
                <a:ea typeface="Calibri" pitchFamily="34" charset="-122"/>
                <a:cs typeface="Calibri" pitchFamily="34" charset="-120"/>
              </a:rPr>
              <a:t>AgriTech track</a:t>
            </a:r>
            <a:endParaRPr lang="en-US" sz="1400" dirty="0"/>
          </a:p>
        </p:txBody>
      </p:sp>
      <p:sp>
        <p:nvSpPr>
          <p:cNvPr id="3" name="Text 1"/>
          <p:cNvSpPr txBox="1"/>
          <p:nvPr/>
        </p:nvSpPr>
        <p:spPr>
          <a:xfrm>
            <a:off x="548640" y="960120"/>
            <a:ext cx="530352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DawaCheck</a:t>
            </a:r>
            <a:endParaRPr lang="en-US" sz="4800" dirty="0"/>
          </a:p>
        </p:txBody>
      </p:sp>
      <p:sp>
        <p:nvSpPr>
          <p:cNvPr id="4" name="Text 2"/>
          <p:cNvSpPr txBox="1"/>
          <p:nvPr/>
        </p:nvSpPr>
        <p:spPr>
          <a:xfrm>
            <a:off x="548640" y="1965960"/>
            <a:ext cx="5120640" cy="1280160"/>
          </a:xfrm>
          <a:prstGeom prst="rect">
            <a:avLst/>
          </a:prstGeom>
          <a:noFill/>
          <a:ln/>
        </p:spPr>
        <p:txBody>
          <a:bodyPr wrap="square" lIns="0" tIns="0" rIns="0" bIns="0" rtlCol="0" anchor="ctr"/>
          <a:lstStyle/>
          <a:p>
            <a:pPr indent="0" marL="0">
              <a:buNone/>
            </a:pPr>
            <a:r>
              <a:rPr lang="en-US" sz="1600" i="1" dirty="0">
                <a:solidFill>
                  <a:srgbClr val="E8F2EA"/>
                </a:solidFill>
                <a:latin typeface="Calibri" pitchFamily="34" charset="0"/>
                <a:ea typeface="Calibri" pitchFamily="34" charset="-122"/>
                <a:cs typeface="Calibri" pitchFamily="34" charset="-120"/>
              </a:rPr>
              <a:t>Plantix tells you the disease. DawaCheck tells you whether the pesticide the dealer handed you is genuine, approved for your crop, safe to mix, and when your harvest is safe to sell.</a:t>
            </a:r>
            <a:endParaRPr lang="en-US" sz="1600" dirty="0"/>
          </a:p>
        </p:txBody>
      </p:sp>
      <p:sp>
        <p:nvSpPr>
          <p:cNvPr id="5" name="Text 3"/>
          <p:cNvSpPr txBox="1"/>
          <p:nvPr/>
        </p:nvSpPr>
        <p:spPr>
          <a:xfrm>
            <a:off x="548640" y="3474720"/>
            <a:ext cx="5120640" cy="365760"/>
          </a:xfrm>
          <a:prstGeom prst="rect">
            <a:avLst/>
          </a:prstGeom>
          <a:noFill/>
          <a:ln/>
        </p:spPr>
        <p:txBody>
          <a:bodyPr wrap="square" lIns="0" tIns="0" rIns="0" bIns="0" rtlCol="0" anchor="ctr"/>
          <a:lstStyle/>
          <a:p>
            <a:pPr indent="0" marL="0">
              <a:buNone/>
            </a:pPr>
            <a:r>
              <a:rPr lang="en-US" sz="1300" dirty="0">
                <a:solidFill>
                  <a:srgbClr val="B7D3BF"/>
                </a:solidFill>
                <a:latin typeface="Calibri" pitchFamily="34" charset="0"/>
                <a:ea typeface="Calibri" pitchFamily="34" charset="-122"/>
                <a:cs typeface="Calibri" pitchFamily="34" charset="-120"/>
              </a:rPr>
              <a:t>Voice-first pesticide check at the moment of purchase</a:t>
            </a:r>
            <a:endParaRPr lang="en-US" sz="1300" dirty="0"/>
          </a:p>
        </p:txBody>
      </p:sp>
      <p:sp>
        <p:nvSpPr>
          <p:cNvPr id="6" name="Shape 4"/>
          <p:cNvSpPr/>
          <p:nvPr/>
        </p:nvSpPr>
        <p:spPr>
          <a:xfrm>
            <a:off x="6400800" y="548640"/>
            <a:ext cx="2103120" cy="4023360"/>
          </a:xfrm>
          <a:prstGeom prst="roundRect">
            <a:avLst>
              <a:gd name="adj" fmla="val 13043"/>
            </a:avLst>
          </a:prstGeom>
          <a:solidFill>
            <a:srgbClr val="0F1A12"/>
          </a:solidFill>
          <a:ln w="12700">
            <a:solidFill>
              <a:srgbClr val="0F1A12"/>
            </a:solidFill>
            <a:prstDash val="solid"/>
          </a:ln>
        </p:spPr>
      </p:sp>
      <p:sp>
        <p:nvSpPr>
          <p:cNvPr id="7" name="Shape 5"/>
          <p:cNvSpPr/>
          <p:nvPr/>
        </p:nvSpPr>
        <p:spPr>
          <a:xfrm>
            <a:off x="6510528" y="713232"/>
            <a:ext cx="1883664" cy="3694176"/>
          </a:xfrm>
          <a:prstGeom prst="roundRect">
            <a:avLst>
              <a:gd name="adj" fmla="val 9709"/>
            </a:avLst>
          </a:prstGeom>
          <a:solidFill>
            <a:srgbClr val="FFFFFF"/>
          </a:solidFill>
          <a:ln w="12700">
            <a:solidFill>
              <a:srgbClr val="FFFFFF"/>
            </a:solidFill>
            <a:prstDash val="solid"/>
          </a:ln>
        </p:spPr>
      </p:sp>
      <p:sp>
        <p:nvSpPr>
          <p:cNvPr id="8" name="Shape 6"/>
          <p:cNvSpPr/>
          <p:nvPr/>
        </p:nvSpPr>
        <p:spPr>
          <a:xfrm>
            <a:off x="6629400" y="960120"/>
            <a:ext cx="1645920" cy="1463040"/>
          </a:xfrm>
          <a:prstGeom prst="roundRect">
            <a:avLst>
              <a:gd name="adj" fmla="val 9375"/>
            </a:avLst>
          </a:prstGeom>
          <a:solidFill>
            <a:srgbClr val="E3F3E7"/>
          </a:solidFill>
          <a:ln w="12700">
            <a:solidFill>
              <a:srgbClr val="E3F3E7"/>
            </a:solidFill>
            <a:prstDash val="solid"/>
          </a:ln>
        </p:spPr>
      </p:sp>
      <p:sp>
        <p:nvSpPr>
          <p:cNvPr id="9" name="Shape 7"/>
          <p:cNvSpPr/>
          <p:nvPr/>
        </p:nvSpPr>
        <p:spPr>
          <a:xfrm>
            <a:off x="7196328" y="1097280"/>
            <a:ext cx="512064" cy="512064"/>
          </a:xfrm>
          <a:prstGeom prst="ellipse">
            <a:avLst/>
          </a:prstGeom>
          <a:solidFill>
            <a:srgbClr val="1F7A3A"/>
          </a:solidFill>
          <a:ln w="12700">
            <a:solidFill>
              <a:srgbClr val="1F7A3A"/>
            </a:solidFill>
            <a:prstDash val="solid"/>
          </a:ln>
        </p:spPr>
      </p:sp>
      <p:sp>
        <p:nvSpPr>
          <p:cNvPr id="10" name="Text 8"/>
          <p:cNvSpPr txBox="1"/>
          <p:nvPr/>
        </p:nvSpPr>
        <p:spPr>
          <a:xfrm>
            <a:off x="7196328" y="1097280"/>
            <a:ext cx="512064" cy="51206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6675120" y="1691640"/>
            <a:ext cx="1554480" cy="640080"/>
          </a:xfrm>
          <a:prstGeom prst="rect">
            <a:avLst/>
          </a:prstGeom>
          <a:noFill/>
          <a:ln/>
        </p:spPr>
        <p:txBody>
          <a:bodyPr wrap="square" lIns="0" tIns="0" rIns="0" bIns="0" rtlCol="0" anchor="ctr"/>
          <a:lstStyle/>
          <a:p>
            <a:pPr algn="ctr" indent="0" marL="0">
              <a:buNone/>
            </a:pPr>
            <a:r>
              <a:rPr lang="en-US" sz="1100" b="1" dirty="0">
                <a:solidFill>
                  <a:srgbClr val="1F7A3A"/>
                </a:solidFill>
                <a:latin typeface="Calibri" pitchFamily="34" charset="0"/>
                <a:ea typeface="Calibri" pitchFamily="34" charset="-122"/>
                <a:cs typeface="Calibri" pitchFamily="34" charset="-120"/>
              </a:rPr>
              <a:t>Safe to use as per label</a:t>
            </a:r>
            <a:endParaRPr lang="en-US" sz="1100" dirty="0"/>
          </a:p>
        </p:txBody>
      </p:sp>
      <p:sp>
        <p:nvSpPr>
          <p:cNvPr id="12" name="Text 10"/>
          <p:cNvSpPr txBox="1"/>
          <p:nvPr/>
        </p:nvSpPr>
        <p:spPr>
          <a:xfrm>
            <a:off x="6675120" y="2560320"/>
            <a:ext cx="1554480" cy="274320"/>
          </a:xfrm>
          <a:prstGeom prst="rect">
            <a:avLst/>
          </a:prstGeom>
          <a:noFill/>
          <a:ln/>
        </p:spPr>
        <p:txBody>
          <a:bodyPr wrap="square" lIns="0" tIns="0" rIns="0" bIns="0" rtlCol="0" anchor="ctr"/>
          <a:lstStyle/>
          <a:p>
            <a:pPr indent="0" marL="0">
              <a:buNone/>
            </a:pPr>
            <a:r>
              <a:rPr lang="en-US" sz="950" b="1" dirty="0">
                <a:solidFill>
                  <a:srgbClr val="1D231F"/>
                </a:solidFill>
                <a:latin typeface="Calibri" pitchFamily="34" charset="0"/>
                <a:ea typeface="Calibri" pitchFamily="34" charset="-122"/>
                <a:cs typeface="Calibri" pitchFamily="34" charset="-120"/>
              </a:rPr>
              <a:t>30 ml per 15 L tank</a:t>
            </a:r>
            <a:endParaRPr lang="en-US" sz="950" dirty="0"/>
          </a:p>
        </p:txBody>
      </p:sp>
      <p:sp>
        <p:nvSpPr>
          <p:cNvPr id="13" name="Text 11"/>
          <p:cNvSpPr txBox="1"/>
          <p:nvPr/>
        </p:nvSpPr>
        <p:spPr>
          <a:xfrm>
            <a:off x="6675120" y="2889504"/>
            <a:ext cx="1554480" cy="274320"/>
          </a:xfrm>
          <a:prstGeom prst="rect">
            <a:avLst/>
          </a:prstGeom>
          <a:noFill/>
          <a:ln/>
        </p:spPr>
        <p:txBody>
          <a:bodyPr wrap="square" lIns="0" tIns="0" rIns="0" bIns="0" rtlCol="0" anchor="ctr"/>
          <a:lstStyle/>
          <a:p>
            <a:pPr indent="0" marL="0">
              <a:buNone/>
            </a:pPr>
            <a:r>
              <a:rPr lang="en-US" sz="950" dirty="0">
                <a:solidFill>
                  <a:srgbClr val="1D231F"/>
                </a:solidFill>
                <a:latin typeface="Calibri" pitchFamily="34" charset="0"/>
                <a:ea typeface="Calibri" pitchFamily="34" charset="-122"/>
                <a:cs typeface="Calibri" pitchFamily="34" charset="-120"/>
              </a:rPr>
              <a:t>8 tanks for your 1 acre</a:t>
            </a:r>
            <a:endParaRPr lang="en-US" sz="950" dirty="0"/>
          </a:p>
        </p:txBody>
      </p:sp>
      <p:sp>
        <p:nvSpPr>
          <p:cNvPr id="14" name="Text 12"/>
          <p:cNvSpPr txBox="1"/>
          <p:nvPr/>
        </p:nvSpPr>
        <p:spPr>
          <a:xfrm>
            <a:off x="6675120" y="3218688"/>
            <a:ext cx="1554480" cy="274320"/>
          </a:xfrm>
          <a:prstGeom prst="rect">
            <a:avLst/>
          </a:prstGeom>
          <a:noFill/>
          <a:ln/>
        </p:spPr>
        <p:txBody>
          <a:bodyPr wrap="square" lIns="0" tIns="0" rIns="0" bIns="0" rtlCol="0" anchor="ctr"/>
          <a:lstStyle/>
          <a:p>
            <a:pPr indent="0" marL="0">
              <a:buNone/>
            </a:pPr>
            <a:r>
              <a:rPr lang="en-US" sz="950" dirty="0">
                <a:solidFill>
                  <a:srgbClr val="1D231F"/>
                </a:solidFill>
                <a:latin typeface="Calibri" pitchFamily="34" charset="0"/>
                <a:ea typeface="Calibri" pitchFamily="34" charset="-122"/>
                <a:cs typeface="Calibri" pitchFamily="34" charset="-120"/>
              </a:rPr>
              <a:t>Do not harvest before 14 Oct</a:t>
            </a:r>
            <a:endParaRPr lang="en-US" sz="950" dirty="0"/>
          </a:p>
        </p:txBody>
      </p:sp>
      <p:sp>
        <p:nvSpPr>
          <p:cNvPr id="15" name="Text 13"/>
          <p:cNvSpPr txBox="1"/>
          <p:nvPr/>
        </p:nvSpPr>
        <p:spPr>
          <a:xfrm>
            <a:off x="6675120" y="3547872"/>
            <a:ext cx="1554480" cy="274320"/>
          </a:xfrm>
          <a:prstGeom prst="rect">
            <a:avLst/>
          </a:prstGeom>
          <a:noFill/>
          <a:ln/>
        </p:spPr>
        <p:txBody>
          <a:bodyPr wrap="square" lIns="0" tIns="0" rIns="0" bIns="0" rtlCol="0" anchor="ctr"/>
          <a:lstStyle/>
          <a:p>
            <a:pPr indent="0" marL="0">
              <a:buNone/>
            </a:pPr>
            <a:r>
              <a:rPr lang="en-US" sz="950" dirty="0">
                <a:solidFill>
                  <a:srgbClr val="1D231F"/>
                </a:solidFill>
                <a:latin typeface="Calibri" pitchFamily="34" charset="0"/>
                <a:ea typeface="Calibri" pitchFamily="34" charset="-122"/>
                <a:cs typeface="Calibri" pitchFamily="34" charset="-120"/>
              </a:rPr>
              <a:t>Wear gloves and mask</a:t>
            </a:r>
            <a:endParaRPr lang="en-US" sz="950" dirty="0"/>
          </a:p>
        </p:txBody>
      </p:sp>
      <p:sp>
        <p:nvSpPr>
          <p:cNvPr id="16" name="Shape 14"/>
          <p:cNvSpPr/>
          <p:nvPr/>
        </p:nvSpPr>
        <p:spPr>
          <a:xfrm>
            <a:off x="6675120" y="3886200"/>
            <a:ext cx="1554480" cy="347472"/>
          </a:xfrm>
          <a:prstGeom prst="roundRect">
            <a:avLst>
              <a:gd name="adj" fmla="val 21053"/>
            </a:avLst>
          </a:prstGeom>
          <a:solidFill>
            <a:srgbClr val="1F7A3A"/>
          </a:solidFill>
          <a:ln w="12700">
            <a:solidFill>
              <a:srgbClr val="1F7A3A"/>
            </a:solidFill>
            <a:prstDash val="solid"/>
          </a:ln>
        </p:spPr>
      </p:sp>
      <p:sp>
        <p:nvSpPr>
          <p:cNvPr id="17" name="Text 15"/>
          <p:cNvSpPr txBox="1"/>
          <p:nvPr/>
        </p:nvSpPr>
        <p:spPr>
          <a:xfrm>
            <a:off x="6675120" y="3886200"/>
            <a:ext cx="15544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 spray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532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Yavatmal, Maharashtra, 2017</a:t>
            </a:r>
            <a:endParaRPr lang="en-US" sz="3000" dirty="0"/>
          </a:p>
        </p:txBody>
      </p:sp>
      <p:sp>
        <p:nvSpPr>
          <p:cNvPr id="3" name="Text 1"/>
          <p:cNvSpPr txBox="1"/>
          <p:nvPr/>
        </p:nvSpPr>
        <p:spPr>
          <a:xfrm>
            <a:off x="457200" y="1005840"/>
            <a:ext cx="8229600" cy="548640"/>
          </a:xfrm>
          <a:prstGeom prst="rect">
            <a:avLst/>
          </a:prstGeom>
          <a:noFill/>
          <a:ln/>
        </p:spPr>
        <p:txBody>
          <a:bodyPr wrap="square" lIns="0" tIns="0" rIns="0" bIns="0" rtlCol="0" anchor="ctr"/>
          <a:lstStyle/>
          <a:p>
            <a:pPr indent="0" marL="0">
              <a:buNone/>
            </a:pPr>
            <a:r>
              <a:rPr lang="en-US" sz="1500" dirty="0">
                <a:solidFill>
                  <a:srgbClr val="E8F2EA"/>
                </a:solidFill>
                <a:latin typeface="Calibri" pitchFamily="34" charset="0"/>
                <a:ea typeface="Calibri" pitchFamily="34" charset="-122"/>
                <a:cs typeface="Calibri" pitchFamily="34" charset="-120"/>
              </a:rPr>
              <a:t>Cotton farmers sprayed what the dealer gave them. Warnings were printed in English and Hindi; most spoke Marathi.</a:t>
            </a:r>
            <a:endParaRPr lang="en-US" sz="1500" dirty="0"/>
          </a:p>
        </p:txBody>
      </p:sp>
      <p:sp>
        <p:nvSpPr>
          <p:cNvPr id="4" name="Shape 2"/>
          <p:cNvSpPr/>
          <p:nvPr/>
        </p:nvSpPr>
        <p:spPr>
          <a:xfrm>
            <a:off x="457200" y="1828800"/>
            <a:ext cx="2560320" cy="2194560"/>
          </a:xfrm>
          <a:prstGeom prst="roundRect">
            <a:avLst>
              <a:gd name="adj" fmla="val 6250"/>
            </a:avLst>
          </a:prstGeom>
          <a:solidFill>
            <a:srgbClr val="1D6B3A"/>
          </a:solidFill>
          <a:ln w="12700">
            <a:solidFill>
              <a:srgbClr val="1D6B3A"/>
            </a:solidFill>
            <a:prstDash val="solid"/>
          </a:ln>
        </p:spPr>
      </p:sp>
      <p:sp>
        <p:nvSpPr>
          <p:cNvPr id="5" name="Text 3"/>
          <p:cNvSpPr txBox="1"/>
          <p:nvPr/>
        </p:nvSpPr>
        <p:spPr>
          <a:xfrm>
            <a:off x="457200" y="2011680"/>
            <a:ext cx="256032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20+</a:t>
            </a:r>
            <a:endParaRPr lang="en-US" sz="5400" dirty="0"/>
          </a:p>
        </p:txBody>
      </p:sp>
      <p:sp>
        <p:nvSpPr>
          <p:cNvPr id="6" name="Text 4"/>
          <p:cNvSpPr txBox="1"/>
          <p:nvPr/>
        </p:nvSpPr>
        <p:spPr>
          <a:xfrm>
            <a:off x="640080" y="3154680"/>
            <a:ext cx="2194560" cy="731520"/>
          </a:xfrm>
          <a:prstGeom prst="rect">
            <a:avLst/>
          </a:prstGeom>
          <a:noFill/>
          <a:ln/>
        </p:spPr>
        <p:txBody>
          <a:bodyPr wrap="square" lIns="0" tIns="0" rIns="0" bIns="0" rtlCol="0" anchor="ctr"/>
          <a:lstStyle/>
          <a:p>
            <a:pPr algn="ctr" indent="0" marL="0">
              <a:buNone/>
            </a:pPr>
            <a:r>
              <a:rPr lang="en-US" sz="1400" dirty="0">
                <a:solidFill>
                  <a:srgbClr val="E8F2EA"/>
                </a:solidFill>
                <a:latin typeface="Calibri" pitchFamily="34" charset="0"/>
                <a:ea typeface="Calibri" pitchFamily="34" charset="-122"/>
                <a:cs typeface="Calibri" pitchFamily="34" charset="-120"/>
              </a:rPr>
              <a:t>deaths in the district</a:t>
            </a:r>
            <a:endParaRPr lang="en-US" sz="1400" dirty="0"/>
          </a:p>
        </p:txBody>
      </p:sp>
      <p:sp>
        <p:nvSpPr>
          <p:cNvPr id="7" name="Shape 5"/>
          <p:cNvSpPr/>
          <p:nvPr/>
        </p:nvSpPr>
        <p:spPr>
          <a:xfrm>
            <a:off x="3246120" y="1828800"/>
            <a:ext cx="2560320" cy="2194560"/>
          </a:xfrm>
          <a:prstGeom prst="roundRect">
            <a:avLst>
              <a:gd name="adj" fmla="val 6250"/>
            </a:avLst>
          </a:prstGeom>
          <a:solidFill>
            <a:srgbClr val="1D6B3A"/>
          </a:solidFill>
          <a:ln w="12700">
            <a:solidFill>
              <a:srgbClr val="1D6B3A"/>
            </a:solidFill>
            <a:prstDash val="solid"/>
          </a:ln>
        </p:spPr>
      </p:sp>
      <p:sp>
        <p:nvSpPr>
          <p:cNvPr id="8" name="Text 6"/>
          <p:cNvSpPr txBox="1"/>
          <p:nvPr/>
        </p:nvSpPr>
        <p:spPr>
          <a:xfrm>
            <a:off x="3246120" y="2011680"/>
            <a:ext cx="256032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~800</a:t>
            </a:r>
            <a:endParaRPr lang="en-US" sz="5400" dirty="0"/>
          </a:p>
        </p:txBody>
      </p:sp>
      <p:sp>
        <p:nvSpPr>
          <p:cNvPr id="9" name="Text 7"/>
          <p:cNvSpPr txBox="1"/>
          <p:nvPr/>
        </p:nvSpPr>
        <p:spPr>
          <a:xfrm>
            <a:off x="3429000" y="3154680"/>
            <a:ext cx="2194560" cy="731520"/>
          </a:xfrm>
          <a:prstGeom prst="rect">
            <a:avLst/>
          </a:prstGeom>
          <a:noFill/>
          <a:ln/>
        </p:spPr>
        <p:txBody>
          <a:bodyPr wrap="square" lIns="0" tIns="0" rIns="0" bIns="0" rtlCol="0" anchor="ctr"/>
          <a:lstStyle/>
          <a:p>
            <a:pPr algn="ctr" indent="0" marL="0">
              <a:buNone/>
            </a:pPr>
            <a:r>
              <a:rPr lang="en-US" sz="1400" dirty="0">
                <a:solidFill>
                  <a:srgbClr val="E8F2EA"/>
                </a:solidFill>
                <a:latin typeface="Calibri" pitchFamily="34" charset="0"/>
                <a:ea typeface="Calibri" pitchFamily="34" charset="-122"/>
                <a:cs typeface="Calibri" pitchFamily="34" charset="-120"/>
              </a:rPr>
              <a:t>hospital admissions</a:t>
            </a:r>
            <a:endParaRPr lang="en-US" sz="1400" dirty="0"/>
          </a:p>
        </p:txBody>
      </p:sp>
      <p:sp>
        <p:nvSpPr>
          <p:cNvPr id="10" name="Shape 8"/>
          <p:cNvSpPr/>
          <p:nvPr/>
        </p:nvSpPr>
        <p:spPr>
          <a:xfrm>
            <a:off x="6035040" y="1828800"/>
            <a:ext cx="2560320" cy="2194560"/>
          </a:xfrm>
          <a:prstGeom prst="roundRect">
            <a:avLst>
              <a:gd name="adj" fmla="val 6250"/>
            </a:avLst>
          </a:prstGeom>
          <a:solidFill>
            <a:srgbClr val="1D6B3A"/>
          </a:solidFill>
          <a:ln w="12700">
            <a:solidFill>
              <a:srgbClr val="1D6B3A"/>
            </a:solidFill>
            <a:prstDash val="solid"/>
          </a:ln>
        </p:spPr>
      </p:sp>
      <p:sp>
        <p:nvSpPr>
          <p:cNvPr id="11" name="Text 9"/>
          <p:cNvSpPr txBox="1"/>
          <p:nvPr/>
        </p:nvSpPr>
        <p:spPr>
          <a:xfrm>
            <a:off x="6035040" y="2011680"/>
            <a:ext cx="2560320" cy="1097280"/>
          </a:xfrm>
          <a:prstGeom prst="rect">
            <a:avLst/>
          </a:prstGeom>
          <a:noFill/>
          <a:ln/>
        </p:spPr>
        <p:txBody>
          <a:bodyPr wrap="square" lIns="0" tIns="0" rIns="0" bIns="0" rtlCol="0" anchor="ctr"/>
          <a:lstStyle/>
          <a:p>
            <a:pPr algn="ctr" indent="0" marL="0">
              <a:buNone/>
            </a:pPr>
            <a:r>
              <a:rPr lang="en-US" sz="5400" b="1" dirty="0">
                <a:solidFill>
                  <a:srgbClr val="FFB4AB"/>
                </a:solidFill>
                <a:latin typeface="Cambria" pitchFamily="34" charset="0"/>
                <a:ea typeface="Cambria" pitchFamily="34" charset="-122"/>
                <a:cs typeface="Cambria" pitchFamily="34" charset="-120"/>
              </a:rPr>
              <a:t>100s</a:t>
            </a:r>
            <a:endParaRPr lang="en-US" sz="5400" dirty="0"/>
          </a:p>
        </p:txBody>
      </p:sp>
      <p:sp>
        <p:nvSpPr>
          <p:cNvPr id="12" name="Text 10"/>
          <p:cNvSpPr txBox="1"/>
          <p:nvPr/>
        </p:nvSpPr>
        <p:spPr>
          <a:xfrm>
            <a:off x="6217920" y="3154680"/>
            <a:ext cx="2194560" cy="731520"/>
          </a:xfrm>
          <a:prstGeom prst="rect">
            <a:avLst/>
          </a:prstGeom>
          <a:noFill/>
          <a:ln/>
        </p:spPr>
        <p:txBody>
          <a:bodyPr wrap="square" lIns="0" tIns="0" rIns="0" bIns="0" rtlCol="0" anchor="ctr"/>
          <a:lstStyle/>
          <a:p>
            <a:pPr algn="ctr" indent="0" marL="0">
              <a:buNone/>
            </a:pPr>
            <a:r>
              <a:rPr lang="en-US" sz="1400" dirty="0">
                <a:solidFill>
                  <a:srgbClr val="E8F2EA"/>
                </a:solidFill>
                <a:latin typeface="Calibri" pitchFamily="34" charset="0"/>
                <a:ea typeface="Calibri" pitchFamily="34" charset="-122"/>
                <a:cs typeface="Calibri" pitchFamily="34" charset="-120"/>
              </a:rPr>
              <a:t>with temporary blindness; staff could not identify the toxin</a:t>
            </a:r>
            <a:endParaRPr lang="en-US" sz="1400" dirty="0"/>
          </a:p>
        </p:txBody>
      </p:sp>
      <p:sp>
        <p:nvSpPr>
          <p:cNvPr id="13" name="Text 11"/>
          <p:cNvSpPr txBox="1"/>
          <p:nvPr/>
        </p:nvSpPr>
        <p:spPr>
          <a:xfrm>
            <a:off x="457200" y="4754880"/>
            <a:ext cx="8229600" cy="256032"/>
          </a:xfrm>
          <a:prstGeom prst="rect">
            <a:avLst/>
          </a:prstGeom>
          <a:noFill/>
          <a:ln/>
        </p:spPr>
        <p:txBody>
          <a:bodyPr wrap="square" lIns="0" tIns="0" rIns="0" bIns="0" rtlCol="0" anchor="ctr"/>
          <a:lstStyle/>
          <a:p>
            <a:pPr indent="0" marL="0">
              <a:buNone/>
            </a:pPr>
            <a:r>
              <a:rPr lang="en-US" sz="900" i="1" dirty="0">
                <a:solidFill>
                  <a:srgbClr val="B7D3BF"/>
                </a:solidFill>
                <a:latin typeface="Calibri" pitchFamily="34" charset="0"/>
                <a:ea typeface="Calibri" pitchFamily="34" charset="-122"/>
                <a:cs typeface="Calibri" pitchFamily="34" charset="-120"/>
              </a:rPr>
              <a:t>Sources: Public Eye, 'The Yavatmal scandal'; NHRC notice (2017). Figures for Jul to Oct 2017.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D231F"/>
                </a:solidFill>
                <a:latin typeface="Cambria" pitchFamily="34" charset="0"/>
                <a:ea typeface="Cambria" pitchFamily="34" charset="-122"/>
                <a:cs typeface="Cambria" pitchFamily="34" charset="-120"/>
              </a:rPr>
              <a:t>The harm happens after the diagnosis</a:t>
            </a:r>
            <a:endParaRPr lang="en-US" sz="3000" dirty="0"/>
          </a:p>
        </p:txBody>
      </p:sp>
      <p:sp>
        <p:nvSpPr>
          <p:cNvPr id="3" name="Shape 1"/>
          <p:cNvSpPr/>
          <p:nvPr/>
        </p:nvSpPr>
        <p:spPr>
          <a:xfrm>
            <a:off x="411480" y="1325880"/>
            <a:ext cx="1280160" cy="2651760"/>
          </a:xfrm>
          <a:prstGeom prst="roundRect">
            <a:avLst>
              <a:gd name="adj" fmla="val 8571"/>
            </a:avLst>
          </a:prstGeom>
          <a:solidFill>
            <a:srgbClr val="F7FAF7"/>
          </a:solidFill>
          <a:ln w="9525">
            <a:solidFill>
              <a:srgbClr val="D6DDD7"/>
            </a:solidFill>
            <a:prstDash val="solid"/>
          </a:ln>
        </p:spPr>
      </p:sp>
      <p:sp>
        <p:nvSpPr>
          <p:cNvPr id="4" name="Text 2"/>
          <p:cNvSpPr txBox="1"/>
          <p:nvPr/>
        </p:nvSpPr>
        <p:spPr>
          <a:xfrm>
            <a:off x="502920" y="1417320"/>
            <a:ext cx="365760" cy="274320"/>
          </a:xfrm>
          <a:prstGeom prst="rect">
            <a:avLst/>
          </a:prstGeom>
          <a:noFill/>
          <a:ln/>
        </p:spPr>
        <p:txBody>
          <a:bodyPr wrap="square" lIns="0" tIns="0" rIns="0" bIns="0" rtlCol="0" anchor="ctr"/>
          <a:lstStyle/>
          <a:p>
            <a:pPr indent="0" marL="0">
              <a:buNone/>
            </a:pPr>
            <a:r>
              <a:rPr lang="en-US" sz="1100" b="1" dirty="0">
                <a:solidFill>
                  <a:srgbClr val="5D665F"/>
                </a:solidFill>
                <a:latin typeface="Calibri" pitchFamily="34" charset="0"/>
                <a:ea typeface="Calibri" pitchFamily="34" charset="-122"/>
                <a:cs typeface="Calibri" pitchFamily="34" charset="-120"/>
              </a:rPr>
              <a:t>1</a:t>
            </a:r>
            <a:endParaRPr lang="en-US" sz="1100" dirty="0"/>
          </a:p>
        </p:txBody>
      </p:sp>
      <p:sp>
        <p:nvSpPr>
          <p:cNvPr id="5" name="Text 3"/>
          <p:cNvSpPr txBox="1"/>
          <p:nvPr/>
        </p:nvSpPr>
        <p:spPr>
          <a:xfrm>
            <a:off x="411480" y="1783080"/>
            <a:ext cx="1280160" cy="731520"/>
          </a:xfrm>
          <a:prstGeom prst="rect">
            <a:avLst/>
          </a:prstGeom>
          <a:noFill/>
          <a:ln/>
        </p:spPr>
        <p:txBody>
          <a:bodyPr wrap="square" lIns="0" tIns="0" rIns="0" bIns="0" rtlCol="0" anchor="ctr"/>
          <a:lstStyle/>
          <a:p>
            <a:pPr algn="ctr" indent="0" marL="0">
              <a:buNone/>
            </a:pPr>
            <a:r>
              <a:rPr lang="en-US" sz="3000" b="1" dirty="0">
                <a:solidFill>
                  <a:srgbClr val="A86A00"/>
                </a:solidFill>
                <a:latin typeface="Cambria" pitchFamily="34" charset="0"/>
                <a:ea typeface="Cambria" pitchFamily="34" charset="-122"/>
                <a:cs typeface="Cambria" pitchFamily="34" charset="-120"/>
              </a:rPr>
              <a:t>52%</a:t>
            </a:r>
            <a:endParaRPr lang="en-US" sz="3000" dirty="0"/>
          </a:p>
        </p:txBody>
      </p:sp>
      <p:sp>
        <p:nvSpPr>
          <p:cNvPr id="6" name="Text 4"/>
          <p:cNvSpPr txBox="1"/>
          <p:nvPr/>
        </p:nvSpPr>
        <p:spPr>
          <a:xfrm>
            <a:off x="521208" y="2606040"/>
            <a:ext cx="1060704" cy="1280160"/>
          </a:xfrm>
          <a:prstGeom prst="rect">
            <a:avLst/>
          </a:prstGeom>
          <a:noFill/>
          <a:ln/>
        </p:spPr>
        <p:txBody>
          <a:bodyPr wrap="square" lIns="0" tIns="0" rIns="0" bIns="0" rtlCol="0" anchor="ctr"/>
          <a:lstStyle/>
          <a:p>
            <a:pPr algn="ctr" indent="0" marL="0">
              <a:buNone/>
            </a:pPr>
            <a:r>
              <a:rPr lang="en-US" sz="1150" dirty="0">
                <a:solidFill>
                  <a:srgbClr val="1D231F"/>
                </a:solidFill>
                <a:latin typeface="Calibri" pitchFamily="34" charset="0"/>
                <a:ea typeface="Calibri" pitchFamily="34" charset="-122"/>
                <a:cs typeface="Calibri" pitchFamily="34" charset="-120"/>
              </a:rPr>
              <a:t>buy on credit from the dealer who advises them</a:t>
            </a:r>
            <a:endParaRPr lang="en-US" sz="1150" dirty="0"/>
          </a:p>
        </p:txBody>
      </p:sp>
      <p:sp>
        <p:nvSpPr>
          <p:cNvPr id="7" name="Text 5"/>
          <p:cNvSpPr txBox="1"/>
          <p:nvPr/>
        </p:nvSpPr>
        <p:spPr>
          <a:xfrm>
            <a:off x="1673352" y="2377440"/>
            <a:ext cx="182880" cy="365760"/>
          </a:xfrm>
          <a:prstGeom prst="rect">
            <a:avLst/>
          </a:prstGeom>
          <a:noFill/>
          <a:ln/>
        </p:spPr>
        <p:txBody>
          <a:bodyPr wrap="square" lIns="0" tIns="0" rIns="0" bIns="0" rtlCol="0" anchor="ctr"/>
          <a:lstStyle/>
          <a:p>
            <a:pPr algn="ctr" indent="0" marL="0">
              <a:buNone/>
            </a:pPr>
            <a:r>
              <a:rPr lang="en-US" sz="2000" dirty="0">
                <a:solidFill>
                  <a:srgbClr val="5D665F"/>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1828800" y="1325880"/>
            <a:ext cx="1280160" cy="2651760"/>
          </a:xfrm>
          <a:prstGeom prst="roundRect">
            <a:avLst>
              <a:gd name="adj" fmla="val 8571"/>
            </a:avLst>
          </a:prstGeom>
          <a:solidFill>
            <a:srgbClr val="F7FAF7"/>
          </a:solidFill>
          <a:ln w="9525">
            <a:solidFill>
              <a:srgbClr val="D6DDD7"/>
            </a:solidFill>
            <a:prstDash val="solid"/>
          </a:ln>
        </p:spPr>
      </p:sp>
      <p:sp>
        <p:nvSpPr>
          <p:cNvPr id="9" name="Text 7"/>
          <p:cNvSpPr txBox="1"/>
          <p:nvPr/>
        </p:nvSpPr>
        <p:spPr>
          <a:xfrm>
            <a:off x="1920240" y="1417320"/>
            <a:ext cx="365760" cy="274320"/>
          </a:xfrm>
          <a:prstGeom prst="rect">
            <a:avLst/>
          </a:prstGeom>
          <a:noFill/>
          <a:ln/>
        </p:spPr>
        <p:txBody>
          <a:bodyPr wrap="square" lIns="0" tIns="0" rIns="0" bIns="0" rtlCol="0" anchor="ctr"/>
          <a:lstStyle/>
          <a:p>
            <a:pPr indent="0" marL="0">
              <a:buNone/>
            </a:pPr>
            <a:r>
              <a:rPr lang="en-US" sz="1100" b="1" dirty="0">
                <a:solidFill>
                  <a:srgbClr val="5D665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828800" y="1783080"/>
            <a:ext cx="1280160" cy="731520"/>
          </a:xfrm>
          <a:prstGeom prst="rect">
            <a:avLst/>
          </a:prstGeom>
          <a:noFill/>
          <a:ln/>
        </p:spPr>
        <p:txBody>
          <a:bodyPr wrap="square" lIns="0" tIns="0" rIns="0" bIns="0" rtlCol="0" anchor="ctr"/>
          <a:lstStyle/>
          <a:p>
            <a:pPr algn="ctr" indent="0" marL="0">
              <a:buNone/>
            </a:pPr>
            <a:r>
              <a:rPr lang="en-US" sz="3000" b="1" dirty="0">
                <a:solidFill>
                  <a:srgbClr val="A86A00"/>
                </a:solidFill>
                <a:latin typeface="Cambria" pitchFamily="34" charset="0"/>
                <a:ea typeface="Cambria" pitchFamily="34" charset="-122"/>
                <a:cs typeface="Cambria" pitchFamily="34" charset="-120"/>
              </a:rPr>
              <a:t>20%</a:t>
            </a:r>
            <a:endParaRPr lang="en-US" sz="3000" dirty="0"/>
          </a:p>
        </p:txBody>
      </p:sp>
      <p:sp>
        <p:nvSpPr>
          <p:cNvPr id="11" name="Text 9"/>
          <p:cNvSpPr txBox="1"/>
          <p:nvPr/>
        </p:nvSpPr>
        <p:spPr>
          <a:xfrm>
            <a:off x="1938528" y="2606040"/>
            <a:ext cx="1060704" cy="1280160"/>
          </a:xfrm>
          <a:prstGeom prst="rect">
            <a:avLst/>
          </a:prstGeom>
          <a:noFill/>
          <a:ln/>
        </p:spPr>
        <p:txBody>
          <a:bodyPr wrap="square" lIns="0" tIns="0" rIns="0" bIns="0" rtlCol="0" anchor="ctr"/>
          <a:lstStyle/>
          <a:p>
            <a:pPr algn="ctr" indent="0" marL="0">
              <a:buNone/>
            </a:pPr>
            <a:r>
              <a:rPr lang="en-US" sz="1150" dirty="0">
                <a:solidFill>
                  <a:srgbClr val="1D231F"/>
                </a:solidFill>
                <a:latin typeface="Calibri" pitchFamily="34" charset="0"/>
                <a:ea typeface="Calibri" pitchFamily="34" charset="-122"/>
                <a:cs typeface="Calibri" pitchFamily="34" charset="-120"/>
              </a:rPr>
              <a:t>read the pesticide label</a:t>
            </a:r>
            <a:endParaRPr lang="en-US" sz="1150" dirty="0"/>
          </a:p>
        </p:txBody>
      </p:sp>
      <p:sp>
        <p:nvSpPr>
          <p:cNvPr id="12" name="Text 10"/>
          <p:cNvSpPr txBox="1"/>
          <p:nvPr/>
        </p:nvSpPr>
        <p:spPr>
          <a:xfrm>
            <a:off x="3090672" y="2377440"/>
            <a:ext cx="182880" cy="365760"/>
          </a:xfrm>
          <a:prstGeom prst="rect">
            <a:avLst/>
          </a:prstGeom>
          <a:noFill/>
          <a:ln/>
        </p:spPr>
        <p:txBody>
          <a:bodyPr wrap="square" lIns="0" tIns="0" rIns="0" bIns="0" rtlCol="0" anchor="ctr"/>
          <a:lstStyle/>
          <a:p>
            <a:pPr algn="ctr" indent="0" marL="0">
              <a:buNone/>
            </a:pPr>
            <a:r>
              <a:rPr lang="en-US" sz="2000" dirty="0">
                <a:solidFill>
                  <a:srgbClr val="5D665F"/>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3246120" y="1325880"/>
            <a:ext cx="1280160" cy="2651760"/>
          </a:xfrm>
          <a:prstGeom prst="roundRect">
            <a:avLst>
              <a:gd name="adj" fmla="val 8571"/>
            </a:avLst>
          </a:prstGeom>
          <a:solidFill>
            <a:srgbClr val="F7FAF7"/>
          </a:solidFill>
          <a:ln w="9525">
            <a:solidFill>
              <a:srgbClr val="D6DDD7"/>
            </a:solidFill>
            <a:prstDash val="solid"/>
          </a:ln>
        </p:spPr>
      </p:sp>
      <p:sp>
        <p:nvSpPr>
          <p:cNvPr id="14" name="Text 12"/>
          <p:cNvSpPr txBox="1"/>
          <p:nvPr/>
        </p:nvSpPr>
        <p:spPr>
          <a:xfrm>
            <a:off x="3337560" y="1417320"/>
            <a:ext cx="365760" cy="274320"/>
          </a:xfrm>
          <a:prstGeom prst="rect">
            <a:avLst/>
          </a:prstGeom>
          <a:noFill/>
          <a:ln/>
        </p:spPr>
        <p:txBody>
          <a:bodyPr wrap="square" lIns="0" tIns="0" rIns="0" bIns="0" rtlCol="0" anchor="ctr"/>
          <a:lstStyle/>
          <a:p>
            <a:pPr indent="0" marL="0">
              <a:buNone/>
            </a:pPr>
            <a:r>
              <a:rPr lang="en-US" sz="1100" b="1" dirty="0">
                <a:solidFill>
                  <a:srgbClr val="5D665F"/>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3246120" y="1783080"/>
            <a:ext cx="1280160" cy="731520"/>
          </a:xfrm>
          <a:prstGeom prst="rect">
            <a:avLst/>
          </a:prstGeom>
          <a:noFill/>
          <a:ln/>
        </p:spPr>
        <p:txBody>
          <a:bodyPr wrap="square" lIns="0" tIns="0" rIns="0" bIns="0" rtlCol="0" anchor="ctr"/>
          <a:lstStyle/>
          <a:p>
            <a:pPr algn="ctr" indent="0" marL="0">
              <a:buNone/>
            </a:pPr>
            <a:r>
              <a:rPr lang="en-US" sz="2200" b="1" dirty="0">
                <a:solidFill>
                  <a:srgbClr val="A86A00"/>
                </a:solidFill>
                <a:latin typeface="Cambria" pitchFamily="34" charset="0"/>
                <a:ea typeface="Cambria" pitchFamily="34" charset="-122"/>
                <a:cs typeface="Cambria" pitchFamily="34" charset="-120"/>
              </a:rPr>
              <a:t>Blind</a:t>
            </a:r>
            <a:endParaRPr lang="en-US" sz="2200" dirty="0"/>
          </a:p>
        </p:txBody>
      </p:sp>
      <p:sp>
        <p:nvSpPr>
          <p:cNvPr id="16" name="Text 14"/>
          <p:cNvSpPr txBox="1"/>
          <p:nvPr/>
        </p:nvSpPr>
        <p:spPr>
          <a:xfrm>
            <a:off x="3355848" y="2606040"/>
            <a:ext cx="1060704" cy="1280160"/>
          </a:xfrm>
          <a:prstGeom prst="rect">
            <a:avLst/>
          </a:prstGeom>
          <a:noFill/>
          <a:ln/>
        </p:spPr>
        <p:txBody>
          <a:bodyPr wrap="square" lIns="0" tIns="0" rIns="0" bIns="0" rtlCol="0" anchor="ctr"/>
          <a:lstStyle/>
          <a:p>
            <a:pPr algn="ctr" indent="0" marL="0">
              <a:buNone/>
            </a:pPr>
            <a:r>
              <a:rPr lang="en-US" sz="1150" dirty="0">
                <a:solidFill>
                  <a:srgbClr val="1D231F"/>
                </a:solidFill>
                <a:latin typeface="Calibri" pitchFamily="34" charset="0"/>
                <a:ea typeface="Calibri" pitchFamily="34" charset="-122"/>
                <a:cs typeface="Calibri" pitchFamily="34" charset="-120"/>
              </a:rPr>
              <a:t>tank mixes of several products</a:t>
            </a:r>
            <a:endParaRPr lang="en-US" sz="1150" dirty="0"/>
          </a:p>
        </p:txBody>
      </p:sp>
      <p:sp>
        <p:nvSpPr>
          <p:cNvPr id="17" name="Text 15"/>
          <p:cNvSpPr txBox="1"/>
          <p:nvPr/>
        </p:nvSpPr>
        <p:spPr>
          <a:xfrm>
            <a:off x="4507992" y="2377440"/>
            <a:ext cx="182880" cy="365760"/>
          </a:xfrm>
          <a:prstGeom prst="rect">
            <a:avLst/>
          </a:prstGeom>
          <a:noFill/>
          <a:ln/>
        </p:spPr>
        <p:txBody>
          <a:bodyPr wrap="square" lIns="0" tIns="0" rIns="0" bIns="0" rtlCol="0" anchor="ctr"/>
          <a:lstStyle/>
          <a:p>
            <a:pPr algn="ctr" indent="0" marL="0">
              <a:buNone/>
            </a:pPr>
            <a:r>
              <a:rPr lang="en-US" sz="2000" dirty="0">
                <a:solidFill>
                  <a:srgbClr val="5D665F"/>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4663440" y="1325880"/>
            <a:ext cx="1280160" cy="2651760"/>
          </a:xfrm>
          <a:prstGeom prst="roundRect">
            <a:avLst>
              <a:gd name="adj" fmla="val 8571"/>
            </a:avLst>
          </a:prstGeom>
          <a:solidFill>
            <a:srgbClr val="F7FAF7"/>
          </a:solidFill>
          <a:ln w="9525">
            <a:solidFill>
              <a:srgbClr val="D6DDD7"/>
            </a:solidFill>
            <a:prstDash val="solid"/>
          </a:ln>
        </p:spPr>
      </p:sp>
      <p:sp>
        <p:nvSpPr>
          <p:cNvPr id="19" name="Text 17"/>
          <p:cNvSpPr txBox="1"/>
          <p:nvPr/>
        </p:nvSpPr>
        <p:spPr>
          <a:xfrm>
            <a:off x="4754880" y="1417320"/>
            <a:ext cx="365760" cy="274320"/>
          </a:xfrm>
          <a:prstGeom prst="rect">
            <a:avLst/>
          </a:prstGeom>
          <a:noFill/>
          <a:ln/>
        </p:spPr>
        <p:txBody>
          <a:bodyPr wrap="square" lIns="0" tIns="0" rIns="0" bIns="0" rtlCol="0" anchor="ctr"/>
          <a:lstStyle/>
          <a:p>
            <a:pPr indent="0" marL="0">
              <a:buNone/>
            </a:pPr>
            <a:r>
              <a:rPr lang="en-US" sz="1100" b="1" dirty="0">
                <a:solidFill>
                  <a:srgbClr val="5D665F"/>
                </a:solidFill>
                <a:latin typeface="Calibri" pitchFamily="34" charset="0"/>
                <a:ea typeface="Calibri" pitchFamily="34" charset="-122"/>
                <a:cs typeface="Calibri" pitchFamily="34" charset="-120"/>
              </a:rPr>
              <a:t>4</a:t>
            </a:r>
            <a:endParaRPr lang="en-US" sz="1100" dirty="0"/>
          </a:p>
        </p:txBody>
      </p:sp>
      <p:sp>
        <p:nvSpPr>
          <p:cNvPr id="20" name="Text 18"/>
          <p:cNvSpPr txBox="1"/>
          <p:nvPr/>
        </p:nvSpPr>
        <p:spPr>
          <a:xfrm>
            <a:off x="4663440" y="1783080"/>
            <a:ext cx="1280160" cy="731520"/>
          </a:xfrm>
          <a:prstGeom prst="rect">
            <a:avLst/>
          </a:prstGeom>
          <a:noFill/>
          <a:ln/>
        </p:spPr>
        <p:txBody>
          <a:bodyPr wrap="square" lIns="0" tIns="0" rIns="0" bIns="0" rtlCol="0" anchor="ctr"/>
          <a:lstStyle/>
          <a:p>
            <a:pPr algn="ctr" indent="0" marL="0">
              <a:buNone/>
            </a:pPr>
            <a:r>
              <a:rPr lang="en-US" sz="3000" b="1" dirty="0">
                <a:solidFill>
                  <a:srgbClr val="B3261E"/>
                </a:solidFill>
                <a:latin typeface="Cambria" pitchFamily="34" charset="0"/>
                <a:ea typeface="Cambria" pitchFamily="34" charset="-122"/>
                <a:cs typeface="Cambria" pitchFamily="34" charset="-120"/>
              </a:rPr>
              <a:t>Rare</a:t>
            </a:r>
            <a:endParaRPr lang="en-US" sz="3000" dirty="0"/>
          </a:p>
        </p:txBody>
      </p:sp>
      <p:sp>
        <p:nvSpPr>
          <p:cNvPr id="21" name="Text 19"/>
          <p:cNvSpPr txBox="1"/>
          <p:nvPr/>
        </p:nvSpPr>
        <p:spPr>
          <a:xfrm>
            <a:off x="4773168" y="2606040"/>
            <a:ext cx="1060704" cy="1280160"/>
          </a:xfrm>
          <a:prstGeom prst="rect">
            <a:avLst/>
          </a:prstGeom>
          <a:noFill/>
          <a:ln/>
        </p:spPr>
        <p:txBody>
          <a:bodyPr wrap="square" lIns="0" tIns="0" rIns="0" bIns="0" rtlCol="0" anchor="ctr"/>
          <a:lstStyle/>
          <a:p>
            <a:pPr algn="ctr" indent="0" marL="0">
              <a:buNone/>
            </a:pPr>
            <a:r>
              <a:rPr lang="en-US" sz="1150" dirty="0">
                <a:solidFill>
                  <a:srgbClr val="1D231F"/>
                </a:solidFill>
                <a:latin typeface="Calibri" pitchFamily="34" charset="0"/>
                <a:ea typeface="Calibri" pitchFamily="34" charset="-122"/>
                <a:cs typeface="Calibri" pitchFamily="34" charset="-120"/>
              </a:rPr>
              <a:t>gloves or masks while spraying</a:t>
            </a:r>
            <a:endParaRPr lang="en-US" sz="1150" dirty="0"/>
          </a:p>
        </p:txBody>
      </p:sp>
      <p:sp>
        <p:nvSpPr>
          <p:cNvPr id="22" name="Text 20"/>
          <p:cNvSpPr txBox="1"/>
          <p:nvPr/>
        </p:nvSpPr>
        <p:spPr>
          <a:xfrm>
            <a:off x="5925312" y="2377440"/>
            <a:ext cx="182880" cy="365760"/>
          </a:xfrm>
          <a:prstGeom prst="rect">
            <a:avLst/>
          </a:prstGeom>
          <a:noFill/>
          <a:ln/>
        </p:spPr>
        <p:txBody>
          <a:bodyPr wrap="square" lIns="0" tIns="0" rIns="0" bIns="0" rtlCol="0" anchor="ctr"/>
          <a:lstStyle/>
          <a:p>
            <a:pPr algn="ctr" indent="0" marL="0">
              <a:buNone/>
            </a:pPr>
            <a:r>
              <a:rPr lang="en-US" sz="2000" dirty="0">
                <a:solidFill>
                  <a:srgbClr val="5D665F"/>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6080760" y="1325880"/>
            <a:ext cx="1280160" cy="2651760"/>
          </a:xfrm>
          <a:prstGeom prst="roundRect">
            <a:avLst>
              <a:gd name="adj" fmla="val 8571"/>
            </a:avLst>
          </a:prstGeom>
          <a:solidFill>
            <a:srgbClr val="F7FAF7"/>
          </a:solidFill>
          <a:ln w="9525">
            <a:solidFill>
              <a:srgbClr val="D6DDD7"/>
            </a:solidFill>
            <a:prstDash val="solid"/>
          </a:ln>
        </p:spPr>
      </p:sp>
      <p:sp>
        <p:nvSpPr>
          <p:cNvPr id="24" name="Text 22"/>
          <p:cNvSpPr txBox="1"/>
          <p:nvPr/>
        </p:nvSpPr>
        <p:spPr>
          <a:xfrm>
            <a:off x="6172200" y="1417320"/>
            <a:ext cx="365760" cy="274320"/>
          </a:xfrm>
          <a:prstGeom prst="rect">
            <a:avLst/>
          </a:prstGeom>
          <a:noFill/>
          <a:ln/>
        </p:spPr>
        <p:txBody>
          <a:bodyPr wrap="square" lIns="0" tIns="0" rIns="0" bIns="0" rtlCol="0" anchor="ctr"/>
          <a:lstStyle/>
          <a:p>
            <a:pPr indent="0" marL="0">
              <a:buNone/>
            </a:pPr>
            <a:r>
              <a:rPr lang="en-US" sz="1100" b="1" dirty="0">
                <a:solidFill>
                  <a:srgbClr val="5D665F"/>
                </a:solidFill>
                <a:latin typeface="Calibri" pitchFamily="34" charset="0"/>
                <a:ea typeface="Calibri" pitchFamily="34" charset="-122"/>
                <a:cs typeface="Calibri" pitchFamily="34" charset="-120"/>
              </a:rPr>
              <a:t>5</a:t>
            </a:r>
            <a:endParaRPr lang="en-US" sz="1100" dirty="0"/>
          </a:p>
        </p:txBody>
      </p:sp>
      <p:sp>
        <p:nvSpPr>
          <p:cNvPr id="25" name="Text 23"/>
          <p:cNvSpPr txBox="1"/>
          <p:nvPr/>
        </p:nvSpPr>
        <p:spPr>
          <a:xfrm>
            <a:off x="6080760" y="1783080"/>
            <a:ext cx="1280160" cy="731520"/>
          </a:xfrm>
          <a:prstGeom prst="rect">
            <a:avLst/>
          </a:prstGeom>
          <a:noFill/>
          <a:ln/>
        </p:spPr>
        <p:txBody>
          <a:bodyPr wrap="square" lIns="0" tIns="0" rIns="0" bIns="0" rtlCol="0" anchor="ctr"/>
          <a:lstStyle/>
          <a:p>
            <a:pPr algn="ctr" indent="0" marL="0">
              <a:buNone/>
            </a:pPr>
            <a:r>
              <a:rPr lang="en-US" sz="3000" b="1" dirty="0">
                <a:solidFill>
                  <a:srgbClr val="B3261E"/>
                </a:solidFill>
                <a:latin typeface="Cambria" pitchFamily="34" charset="0"/>
                <a:ea typeface="Cambria" pitchFamily="34" charset="-122"/>
                <a:cs typeface="Cambria" pitchFamily="34" charset="-120"/>
              </a:rPr>
              <a:t>2.8%</a:t>
            </a:r>
            <a:endParaRPr lang="en-US" sz="3000" dirty="0"/>
          </a:p>
        </p:txBody>
      </p:sp>
      <p:sp>
        <p:nvSpPr>
          <p:cNvPr id="26" name="Text 24"/>
          <p:cNvSpPr txBox="1"/>
          <p:nvPr/>
        </p:nvSpPr>
        <p:spPr>
          <a:xfrm>
            <a:off x="6190488" y="2606040"/>
            <a:ext cx="1060704" cy="1280160"/>
          </a:xfrm>
          <a:prstGeom prst="rect">
            <a:avLst/>
          </a:prstGeom>
          <a:noFill/>
          <a:ln/>
        </p:spPr>
        <p:txBody>
          <a:bodyPr wrap="square" lIns="0" tIns="0" rIns="0" bIns="0" rtlCol="0" anchor="ctr"/>
          <a:lstStyle/>
          <a:p>
            <a:pPr algn="ctr" indent="0" marL="0">
              <a:buNone/>
            </a:pPr>
            <a:r>
              <a:rPr lang="en-US" sz="1150" dirty="0">
                <a:solidFill>
                  <a:srgbClr val="1D231F"/>
                </a:solidFill>
                <a:latin typeface="Calibri" pitchFamily="34" charset="0"/>
                <a:ea typeface="Calibri" pitchFamily="34" charset="-122"/>
                <a:cs typeface="Calibri" pitchFamily="34" charset="-120"/>
              </a:rPr>
              <a:t>of food samples above MRL</a:t>
            </a:r>
            <a:endParaRPr lang="en-US" sz="1150" dirty="0"/>
          </a:p>
        </p:txBody>
      </p:sp>
      <p:sp>
        <p:nvSpPr>
          <p:cNvPr id="27" name="Text 25"/>
          <p:cNvSpPr txBox="1"/>
          <p:nvPr/>
        </p:nvSpPr>
        <p:spPr>
          <a:xfrm>
            <a:off x="7342632" y="2377440"/>
            <a:ext cx="182880" cy="365760"/>
          </a:xfrm>
          <a:prstGeom prst="rect">
            <a:avLst/>
          </a:prstGeom>
          <a:noFill/>
          <a:ln/>
        </p:spPr>
        <p:txBody>
          <a:bodyPr wrap="square" lIns="0" tIns="0" rIns="0" bIns="0" rtlCol="0" anchor="ctr"/>
          <a:lstStyle/>
          <a:p>
            <a:pPr algn="ctr" indent="0" marL="0">
              <a:buNone/>
            </a:pPr>
            <a:r>
              <a:rPr lang="en-US" sz="2000" dirty="0">
                <a:solidFill>
                  <a:srgbClr val="5D665F"/>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7498080" y="1325880"/>
            <a:ext cx="1280160" cy="2651760"/>
          </a:xfrm>
          <a:prstGeom prst="roundRect">
            <a:avLst>
              <a:gd name="adj" fmla="val 8571"/>
            </a:avLst>
          </a:prstGeom>
          <a:solidFill>
            <a:srgbClr val="F7FAF7"/>
          </a:solidFill>
          <a:ln w="9525">
            <a:solidFill>
              <a:srgbClr val="D6DDD7"/>
            </a:solidFill>
            <a:prstDash val="solid"/>
          </a:ln>
        </p:spPr>
      </p:sp>
      <p:sp>
        <p:nvSpPr>
          <p:cNvPr id="29" name="Text 27"/>
          <p:cNvSpPr txBox="1"/>
          <p:nvPr/>
        </p:nvSpPr>
        <p:spPr>
          <a:xfrm>
            <a:off x="7589520" y="1417320"/>
            <a:ext cx="365760" cy="274320"/>
          </a:xfrm>
          <a:prstGeom prst="rect">
            <a:avLst/>
          </a:prstGeom>
          <a:noFill/>
          <a:ln/>
        </p:spPr>
        <p:txBody>
          <a:bodyPr wrap="square" lIns="0" tIns="0" rIns="0" bIns="0" rtlCol="0" anchor="ctr"/>
          <a:lstStyle/>
          <a:p>
            <a:pPr indent="0" marL="0">
              <a:buNone/>
            </a:pPr>
            <a:r>
              <a:rPr lang="en-US" sz="1100" b="1" dirty="0">
                <a:solidFill>
                  <a:srgbClr val="5D665F"/>
                </a:solidFill>
                <a:latin typeface="Calibri" pitchFamily="34" charset="0"/>
                <a:ea typeface="Calibri" pitchFamily="34" charset="-122"/>
                <a:cs typeface="Calibri" pitchFamily="34" charset="-120"/>
              </a:rPr>
              <a:t>6</a:t>
            </a:r>
            <a:endParaRPr lang="en-US" sz="1100" dirty="0"/>
          </a:p>
        </p:txBody>
      </p:sp>
      <p:sp>
        <p:nvSpPr>
          <p:cNvPr id="30" name="Text 28"/>
          <p:cNvSpPr txBox="1"/>
          <p:nvPr/>
        </p:nvSpPr>
        <p:spPr>
          <a:xfrm>
            <a:off x="7498080" y="1783080"/>
            <a:ext cx="1280160" cy="731520"/>
          </a:xfrm>
          <a:prstGeom prst="rect">
            <a:avLst/>
          </a:prstGeom>
          <a:noFill/>
          <a:ln/>
        </p:spPr>
        <p:txBody>
          <a:bodyPr wrap="square" lIns="0" tIns="0" rIns="0" bIns="0" rtlCol="0" anchor="ctr"/>
          <a:lstStyle/>
          <a:p>
            <a:pPr algn="ctr" indent="0" marL="0">
              <a:buNone/>
            </a:pPr>
            <a:r>
              <a:rPr lang="en-US" sz="3000" b="1" dirty="0">
                <a:solidFill>
                  <a:srgbClr val="B3261E"/>
                </a:solidFill>
                <a:latin typeface="Cambria" pitchFamily="34" charset="0"/>
                <a:ea typeface="Cambria" pitchFamily="34" charset="-122"/>
                <a:cs typeface="Cambria" pitchFamily="34" charset="-120"/>
              </a:rPr>
              <a:t>97</a:t>
            </a:r>
            <a:endParaRPr lang="en-US" sz="3000" dirty="0"/>
          </a:p>
        </p:txBody>
      </p:sp>
      <p:sp>
        <p:nvSpPr>
          <p:cNvPr id="31" name="Text 29"/>
          <p:cNvSpPr txBox="1"/>
          <p:nvPr/>
        </p:nvSpPr>
        <p:spPr>
          <a:xfrm>
            <a:off x="7607808" y="2606040"/>
            <a:ext cx="1060704" cy="1280160"/>
          </a:xfrm>
          <a:prstGeom prst="rect">
            <a:avLst/>
          </a:prstGeom>
          <a:noFill/>
          <a:ln/>
        </p:spPr>
        <p:txBody>
          <a:bodyPr wrap="square" lIns="0" tIns="0" rIns="0" bIns="0" rtlCol="0" anchor="ctr"/>
          <a:lstStyle/>
          <a:p>
            <a:pPr algn="ctr" indent="0" marL="0">
              <a:buNone/>
            </a:pPr>
            <a:r>
              <a:rPr lang="en-US" sz="1150" dirty="0">
                <a:solidFill>
                  <a:srgbClr val="1D231F"/>
                </a:solidFill>
                <a:latin typeface="Calibri" pitchFamily="34" charset="0"/>
                <a:ea typeface="Calibri" pitchFamily="34" charset="-122"/>
                <a:cs typeface="Calibri" pitchFamily="34" charset="-120"/>
              </a:rPr>
              <a:t>EU detections of tricyclazole in Indian rice</a:t>
            </a:r>
            <a:endParaRPr lang="en-US" sz="1150" dirty="0"/>
          </a:p>
        </p:txBody>
      </p:sp>
      <p:sp>
        <p:nvSpPr>
          <p:cNvPr id="32" name="Text 30"/>
          <p:cNvSpPr txBox="1"/>
          <p:nvPr/>
        </p:nvSpPr>
        <p:spPr>
          <a:xfrm>
            <a:off x="411480" y="4114800"/>
            <a:ext cx="8321040" cy="320040"/>
          </a:xfrm>
          <a:prstGeom prst="rect">
            <a:avLst/>
          </a:prstGeom>
          <a:noFill/>
          <a:ln/>
        </p:spPr>
        <p:txBody>
          <a:bodyPr wrap="square" lIns="0" tIns="0" rIns="0" bIns="0" rtlCol="0" anchor="ctr"/>
          <a:lstStyle/>
          <a:p>
            <a:pPr algn="ctr" indent="0" marL="0">
              <a:buNone/>
            </a:pPr>
            <a:r>
              <a:rPr lang="en-US" sz="1300" dirty="0">
                <a:solidFill>
                  <a:srgbClr val="5D665F"/>
                </a:solidFill>
                <a:latin typeface="Calibri" pitchFamily="34" charset="0"/>
                <a:ea typeface="Calibri" pitchFamily="34" charset="-122"/>
                <a:cs typeface="Calibri" pitchFamily="34" charset="-120"/>
              </a:rPr>
              <a:t>Purchase  ·  Label  ·  Mixing  ·  Spraying  ·  Harvest  ·  Export</a:t>
            </a:r>
            <a:endParaRPr lang="en-US" sz="1300" dirty="0"/>
          </a:p>
        </p:txBody>
      </p:sp>
      <p:sp>
        <p:nvSpPr>
          <p:cNvPr id="33" name="Text 31"/>
          <p:cNvSpPr txBox="1"/>
          <p:nvPr/>
        </p:nvSpPr>
        <p:spPr>
          <a:xfrm>
            <a:off x="457200" y="4754880"/>
            <a:ext cx="8229600" cy="256032"/>
          </a:xfrm>
          <a:prstGeom prst="rect">
            <a:avLst/>
          </a:prstGeom>
          <a:noFill/>
          <a:ln/>
        </p:spPr>
        <p:txBody>
          <a:bodyPr wrap="square" lIns="0" tIns="0" rIns="0" bIns="0" rtlCol="0" anchor="ctr"/>
          <a:lstStyle/>
          <a:p>
            <a:pPr indent="0" marL="0">
              <a:buNone/>
            </a:pPr>
            <a:r>
              <a:rPr lang="en-US" sz="900" i="1" dirty="0">
                <a:solidFill>
                  <a:srgbClr val="5D665F"/>
                </a:solidFill>
                <a:latin typeface="Calibri" pitchFamily="34" charset="0"/>
                <a:ea typeface="Calibri" pitchFamily="34" charset="-122"/>
                <a:cs typeface="Calibri" pitchFamily="34" charset="-120"/>
              </a:rPr>
              <a:t>Agriculture and Human Values (2026, West Bengal, 441 households); Public Eye; FSSAI 2022-25 via Punjab Kesari (Aug 2025); Lok Sabha answer (Mar 2025).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D231F"/>
                </a:solidFill>
                <a:latin typeface="Cambria" pitchFamily="34" charset="0"/>
                <a:ea typeface="Cambria" pitchFamily="34" charset="-122"/>
                <a:cs typeface="Cambria" pitchFamily="34" charset="-120"/>
              </a:rPr>
              <a:t>Every app stops at 'which disease?'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017520"/>
                <a:gridCol w="1737360"/>
                <a:gridCol w="1737360"/>
                <a:gridCol w="1737360"/>
              </a:tblGrid>
              <a:tr h="475488">
                <a:tc>
                  <a:txBody>
                    <a:bodyPr/>
                    <a:lstStyle/>
                    <a:p>
                      <a:pPr indent="0" marL="0">
                        <a:buNone/>
                      </a:pP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tcPr>
                </a:tc>
                <a:tc>
                  <a:txBody>
                    <a:bodyPr/>
                    <a:lstStyle/>
                    <a:p>
                      <a:pPr indent="0" marL="0">
                        <a:buNone/>
                      </a:pPr>
                      <a:r>
                        <a:rPr lang="en-US" sz="1500" b="1" dirty="0">
                          <a:solidFill>
                            <a:srgbClr val="5D665F"/>
                          </a:solidFill>
                          <a:latin typeface="Calibri" pitchFamily="34" charset="0"/>
                          <a:ea typeface="Calibri" pitchFamily="34" charset="-122"/>
                          <a:cs typeface="Calibri" pitchFamily="34" charset="-120"/>
                        </a:rPr>
                        <a:t>Scans the packet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tcPr>
                </a:tc>
                <a:tc>
                  <a:txBody>
                    <a:bodyPr/>
                    <a:lstStyle/>
                    <a:p>
                      <a:pPr indent="0" marL="0">
                        <a:buNone/>
                      </a:pPr>
                      <a:r>
                        <a:rPr lang="en-US" sz="1500" b="1" dirty="0">
                          <a:solidFill>
                            <a:srgbClr val="5D665F"/>
                          </a:solidFill>
                          <a:latin typeface="Calibri" pitchFamily="34" charset="0"/>
                          <a:ea typeface="Calibri" pitchFamily="34" charset="-122"/>
                          <a:cs typeface="Calibri" pitchFamily="34" charset="-120"/>
                        </a:rPr>
                        <a:t>Crop + dose + PHI</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tcPr>
                </a:tc>
                <a:tc>
                  <a:txBody>
                    <a:bodyPr/>
                    <a:lstStyle/>
                    <a:p>
                      <a:pPr indent="0" marL="0">
                        <a:buNone/>
                      </a:pPr>
                      <a:r>
                        <a:rPr lang="en-US" sz="1500" b="1" dirty="0">
                          <a:solidFill>
                            <a:srgbClr val="5D665F"/>
                          </a:solidFill>
                          <a:latin typeface="Calibri" pitchFamily="34" charset="0"/>
                          <a:ea typeface="Calibri" pitchFamily="34" charset="-122"/>
                          <a:cs typeface="Calibri" pitchFamily="34" charset="-120"/>
                        </a:rPr>
                        <a:t>Brand-neutral</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tcPr>
                </a:tc>
              </a:tr>
              <a:tr h="475488">
                <a:tc>
                  <a:txBody>
                    <a:bodyPr/>
                    <a:lstStyle/>
                    <a:p>
                      <a:pPr algn="l" indent="0" marL="0">
                        <a:buNone/>
                      </a:pPr>
                      <a:r>
                        <a:rPr lang="en-US" sz="1500" b="1" dirty="0">
                          <a:solidFill>
                            <a:srgbClr val="1D231F"/>
                          </a:solidFill>
                          <a:latin typeface="Calibri" pitchFamily="34" charset="0"/>
                          <a:ea typeface="Calibri" pitchFamily="34" charset="-122"/>
                          <a:cs typeface="Calibri" pitchFamily="34" charset="-120"/>
                        </a:rPr>
                        <a:t>Plantix</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7A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1D231F"/>
                          </a:solidFill>
                          <a:latin typeface="Calibri" pitchFamily="34" charset="0"/>
                          <a:ea typeface="Calibri" pitchFamily="34" charset="-122"/>
                          <a:cs typeface="Calibri" pitchFamily="34" charset="-120"/>
                        </a:rPr>
                        <a:t>AgroStar, DeHaat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1D231F"/>
                          </a:solidFill>
                          <a:latin typeface="Calibri" pitchFamily="34" charset="0"/>
                          <a:ea typeface="Calibri" pitchFamily="34" charset="-122"/>
                          <a:cs typeface="Calibri" pitchFamily="34" charset="-120"/>
                        </a:rPr>
                        <a:t>FarmerChat, Kisan e-Mitra</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7A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1D231F"/>
                          </a:solidFill>
                          <a:latin typeface="Calibri" pitchFamily="34" charset="0"/>
                          <a:ea typeface="Calibri" pitchFamily="34" charset="-122"/>
                          <a:cs typeface="Calibri" pitchFamily="34" charset="-120"/>
                        </a:rPr>
                        <a:t>Bayer Safety Seal</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231F"/>
                          </a:solidFill>
                          <a:latin typeface="Calibri" pitchFamily="34" charset="0"/>
                          <a:ea typeface="Calibri" pitchFamily="34" charset="-122"/>
                          <a:cs typeface="Calibri" pitchFamily="34" charset="-120"/>
                        </a:rPr>
                        <a:t>Bayer only</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3261E"/>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1D231F"/>
                          </a:solidFill>
                          <a:latin typeface="Calibri" pitchFamily="34" charset="0"/>
                          <a:ea typeface="Calibri" pitchFamily="34" charset="-122"/>
                          <a:cs typeface="Calibri" pitchFamily="34" charset="-120"/>
                        </a:rPr>
                        <a:t>DawaCheck</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E3F3E7"/>
                    </a:solidFill>
                  </a:tcPr>
                </a:tc>
                <a:tc>
                  <a:txBody>
                    <a:bodyPr/>
                    <a:lstStyle/>
                    <a:p>
                      <a:pPr algn="ctr" indent="0" marL="0">
                        <a:buNone/>
                      </a:pPr>
                      <a:r>
                        <a:rPr lang="en-US" sz="1500" b="1" dirty="0">
                          <a:solidFill>
                            <a:srgbClr val="1F7A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E3F3E7"/>
                    </a:solidFill>
                  </a:tcPr>
                </a:tc>
                <a:tc>
                  <a:txBody>
                    <a:bodyPr/>
                    <a:lstStyle/>
                    <a:p>
                      <a:pPr algn="ctr" indent="0" marL="0">
                        <a:buNone/>
                      </a:pPr>
                      <a:r>
                        <a:rPr lang="en-US" sz="1500" b="1" dirty="0">
                          <a:solidFill>
                            <a:srgbClr val="1F7A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E3F3E7"/>
                    </a:solidFill>
                  </a:tcPr>
                </a:tc>
                <a:tc>
                  <a:txBody>
                    <a:bodyPr/>
                    <a:lstStyle/>
                    <a:p>
                      <a:pPr algn="ctr" indent="0" marL="0">
                        <a:buNone/>
                      </a:pPr>
                      <a:r>
                        <a:rPr lang="en-US" sz="1500" b="1" dirty="0">
                          <a:solidFill>
                            <a:srgbClr val="1F7A3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6DDD7"/>
                      </a:solidFill>
                      <a:prstDash val="solid"/>
                      <a:round/>
                      <a:headEnd type="none" w="med" len="med"/>
                      <a:tailEnd type="none" w="med" len="med"/>
                    </a:lnL>
                    <a:lnR w="9525" cap="flat" cmpd="sng" algn="ctr">
                      <a:solidFill>
                        <a:srgbClr val="D6DDD7"/>
                      </a:solidFill>
                      <a:prstDash val="solid"/>
                      <a:round/>
                      <a:headEnd type="none" w="med" len="med"/>
                      <a:tailEnd type="none" w="med" len="med"/>
                    </a:lnR>
                    <a:lnT w="9525" cap="flat" cmpd="sng" algn="ctr">
                      <a:solidFill>
                        <a:srgbClr val="D6DDD7"/>
                      </a:solidFill>
                      <a:prstDash val="solid"/>
                      <a:round/>
                      <a:headEnd type="none" w="med" len="med"/>
                      <a:tailEnd type="none" w="med" len="med"/>
                    </a:lnT>
                    <a:lnB w="9525" cap="flat" cmpd="sng" algn="ctr">
                      <a:solidFill>
                        <a:srgbClr val="D6DDD7"/>
                      </a:solidFill>
                      <a:prstDash val="solid"/>
                      <a:round/>
                      <a:headEnd type="none" w="med" len="med"/>
                      <a:tailEnd type="none" w="med" len="med"/>
                    </a:lnB>
                    <a:solidFill>
                      <a:srgbClr val="E3F3E7"/>
                    </a:solidFill>
                  </a:tcPr>
                </a:tc>
              </a:tr>
            </a:tbl>
          </a:graphicData>
        </a:graphic>
      </p:graphicFrame>
      <p:sp>
        <p:nvSpPr>
          <p:cNvPr id="4" name="Text 1"/>
          <p:cNvSpPr txBox="1"/>
          <p:nvPr/>
        </p:nvSpPr>
        <p:spPr>
          <a:xfrm>
            <a:off x="457200" y="4754880"/>
            <a:ext cx="8229600" cy="256032"/>
          </a:xfrm>
          <a:prstGeom prst="rect">
            <a:avLst/>
          </a:prstGeom>
          <a:noFill/>
          <a:ln/>
        </p:spPr>
        <p:txBody>
          <a:bodyPr wrap="square" lIns="0" tIns="0" rIns="0" bIns="0" rtlCol="0" anchor="ctr"/>
          <a:lstStyle/>
          <a:p>
            <a:pPr indent="0" marL="0">
              <a:buNone/>
            </a:pPr>
            <a:r>
              <a:rPr lang="en-US" sz="900" i="1" dirty="0">
                <a:solidFill>
                  <a:srgbClr val="5D665F"/>
                </a:solidFill>
                <a:latin typeface="Calibri" pitchFamily="34" charset="0"/>
                <a:ea typeface="Calibri" pitchFamily="34" charset="-122"/>
                <a:cs typeface="Calibri" pitchFamily="34" charset="-120"/>
              </a:rPr>
              <a:t>Khetiyaar (2026) comparison of farming apps; Bayer Safety Seal app. Re-run the competitor search on GitHub, Devfolio and Play Store before the pitch.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7"/>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D231F"/>
                </a:solidFill>
                <a:latin typeface="Cambria" pitchFamily="34" charset="0"/>
                <a:ea typeface="Cambria" pitchFamily="34" charset="-122"/>
                <a:cs typeface="Cambria" pitchFamily="34" charset="-120"/>
              </a:rPr>
              <a:t>Scan, verify, dose, harvest safely</a:t>
            </a:r>
            <a:endParaRPr lang="en-US" sz="3000" dirty="0"/>
          </a:p>
        </p:txBody>
      </p:sp>
      <p:sp>
        <p:nvSpPr>
          <p:cNvPr id="3" name="Shape 1"/>
          <p:cNvSpPr/>
          <p:nvPr/>
        </p:nvSpPr>
        <p:spPr>
          <a:xfrm>
            <a:off x="457200" y="1280160"/>
            <a:ext cx="1499616" cy="2377440"/>
          </a:xfrm>
          <a:prstGeom prst="roundRect">
            <a:avLst>
              <a:gd name="adj" fmla="val 7317"/>
            </a:avLst>
          </a:prstGeom>
          <a:solidFill>
            <a:srgbClr val="FFFFFF"/>
          </a:solidFill>
          <a:ln w="9525">
            <a:solidFill>
              <a:srgbClr val="D6DDD7"/>
            </a:solidFill>
            <a:prstDash val="solid"/>
          </a:ln>
        </p:spPr>
      </p:sp>
      <p:sp>
        <p:nvSpPr>
          <p:cNvPr id="4" name="Shape 2"/>
          <p:cNvSpPr/>
          <p:nvPr/>
        </p:nvSpPr>
        <p:spPr>
          <a:xfrm>
            <a:off x="932688" y="1463040"/>
            <a:ext cx="548640" cy="548640"/>
          </a:xfrm>
          <a:prstGeom prst="ellipse">
            <a:avLst/>
          </a:prstGeom>
          <a:solidFill>
            <a:srgbClr val="14532D"/>
          </a:solidFill>
          <a:ln w="12700">
            <a:solidFill>
              <a:srgbClr val="14532D"/>
            </a:solidFill>
            <a:prstDash val="solid"/>
          </a:ln>
        </p:spPr>
      </p:sp>
      <p:sp>
        <p:nvSpPr>
          <p:cNvPr id="5" name="Text 3"/>
          <p:cNvSpPr txBox="1"/>
          <p:nvPr/>
        </p:nvSpPr>
        <p:spPr>
          <a:xfrm>
            <a:off x="932688"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txBox="1"/>
          <p:nvPr/>
        </p:nvSpPr>
        <p:spPr>
          <a:xfrm>
            <a:off x="548640" y="2148840"/>
            <a:ext cx="1316736" cy="365760"/>
          </a:xfrm>
          <a:prstGeom prst="rect">
            <a:avLst/>
          </a:prstGeom>
          <a:noFill/>
          <a:ln/>
        </p:spPr>
        <p:txBody>
          <a:bodyPr wrap="square" lIns="0" tIns="0" rIns="0" bIns="0" rtlCol="0" anchor="ctr"/>
          <a:lstStyle/>
          <a:p>
            <a:pPr algn="ctr" indent="0" marL="0">
              <a:buNone/>
            </a:pPr>
            <a:r>
              <a:rPr lang="en-US" sz="1600" b="1" dirty="0">
                <a:solidFill>
                  <a:srgbClr val="1D231F"/>
                </a:solidFill>
                <a:latin typeface="Cambria" pitchFamily="34" charset="0"/>
                <a:ea typeface="Cambria" pitchFamily="34" charset="-122"/>
                <a:cs typeface="Cambria" pitchFamily="34" charset="-120"/>
              </a:rPr>
              <a:t>Scan</a:t>
            </a:r>
            <a:endParaRPr lang="en-US" sz="1600" dirty="0"/>
          </a:p>
        </p:txBody>
      </p:sp>
      <p:sp>
        <p:nvSpPr>
          <p:cNvPr id="7" name="Text 5"/>
          <p:cNvSpPr txBox="1"/>
          <p:nvPr/>
        </p:nvSpPr>
        <p:spPr>
          <a:xfrm>
            <a:off x="566928" y="2560320"/>
            <a:ext cx="1280160" cy="914400"/>
          </a:xfrm>
          <a:prstGeom prst="rect">
            <a:avLst/>
          </a:prstGeom>
          <a:noFill/>
          <a:ln/>
        </p:spPr>
        <p:txBody>
          <a:bodyPr wrap="square" lIns="0" tIns="0" rIns="0" bIns="0" rtlCol="0" anchor="ctr"/>
          <a:lstStyle/>
          <a:p>
            <a:pPr algn="ctr" indent="0" marL="0">
              <a:buNone/>
            </a:pPr>
            <a:r>
              <a:rPr lang="en-US" sz="1200" dirty="0">
                <a:solidFill>
                  <a:srgbClr val="5D665F"/>
                </a:solidFill>
                <a:latin typeface="Calibri" pitchFamily="34" charset="0"/>
                <a:ea typeface="Calibri" pitchFamily="34" charset="-122"/>
                <a:cs typeface="Calibri" pitchFamily="34" charset="-120"/>
              </a:rPr>
              <a:t>QR, label photo or dealer bill</a:t>
            </a:r>
            <a:endParaRPr lang="en-US" sz="1200" dirty="0"/>
          </a:p>
        </p:txBody>
      </p:sp>
      <p:sp>
        <p:nvSpPr>
          <p:cNvPr id="8" name="Shape 6"/>
          <p:cNvSpPr/>
          <p:nvPr/>
        </p:nvSpPr>
        <p:spPr>
          <a:xfrm>
            <a:off x="2139696" y="1280160"/>
            <a:ext cx="1499616" cy="2377440"/>
          </a:xfrm>
          <a:prstGeom prst="roundRect">
            <a:avLst>
              <a:gd name="adj" fmla="val 7317"/>
            </a:avLst>
          </a:prstGeom>
          <a:solidFill>
            <a:srgbClr val="FFFFFF"/>
          </a:solidFill>
          <a:ln w="9525">
            <a:solidFill>
              <a:srgbClr val="D6DDD7"/>
            </a:solidFill>
            <a:prstDash val="solid"/>
          </a:ln>
        </p:spPr>
      </p:sp>
      <p:sp>
        <p:nvSpPr>
          <p:cNvPr id="9" name="Shape 7"/>
          <p:cNvSpPr/>
          <p:nvPr/>
        </p:nvSpPr>
        <p:spPr>
          <a:xfrm>
            <a:off x="2615184" y="1463040"/>
            <a:ext cx="548640" cy="548640"/>
          </a:xfrm>
          <a:prstGeom prst="ellipse">
            <a:avLst/>
          </a:prstGeom>
          <a:solidFill>
            <a:srgbClr val="1F7A3A"/>
          </a:solidFill>
          <a:ln w="12700">
            <a:solidFill>
              <a:srgbClr val="1F7A3A"/>
            </a:solidFill>
            <a:prstDash val="solid"/>
          </a:ln>
        </p:spPr>
      </p:sp>
      <p:sp>
        <p:nvSpPr>
          <p:cNvPr id="10" name="Text 8"/>
          <p:cNvSpPr txBox="1"/>
          <p:nvPr/>
        </p:nvSpPr>
        <p:spPr>
          <a:xfrm>
            <a:off x="2615184"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txBox="1"/>
          <p:nvPr/>
        </p:nvSpPr>
        <p:spPr>
          <a:xfrm>
            <a:off x="2231136" y="2148840"/>
            <a:ext cx="1316736" cy="365760"/>
          </a:xfrm>
          <a:prstGeom prst="rect">
            <a:avLst/>
          </a:prstGeom>
          <a:noFill/>
          <a:ln/>
        </p:spPr>
        <p:txBody>
          <a:bodyPr wrap="square" lIns="0" tIns="0" rIns="0" bIns="0" rtlCol="0" anchor="ctr"/>
          <a:lstStyle/>
          <a:p>
            <a:pPr algn="ctr" indent="0" marL="0">
              <a:buNone/>
            </a:pPr>
            <a:r>
              <a:rPr lang="en-US" sz="1600" b="1" dirty="0">
                <a:solidFill>
                  <a:srgbClr val="1D231F"/>
                </a:solidFill>
                <a:latin typeface="Cambria" pitchFamily="34" charset="0"/>
                <a:ea typeface="Cambria" pitchFamily="34" charset="-122"/>
                <a:cs typeface="Cambria" pitchFamily="34" charset="-120"/>
              </a:rPr>
              <a:t>Verify</a:t>
            </a:r>
            <a:endParaRPr lang="en-US" sz="1600" dirty="0"/>
          </a:p>
        </p:txBody>
      </p:sp>
      <p:sp>
        <p:nvSpPr>
          <p:cNvPr id="12" name="Text 10"/>
          <p:cNvSpPr txBox="1"/>
          <p:nvPr/>
        </p:nvSpPr>
        <p:spPr>
          <a:xfrm>
            <a:off x="2249424" y="2560320"/>
            <a:ext cx="1280160" cy="914400"/>
          </a:xfrm>
          <a:prstGeom prst="rect">
            <a:avLst/>
          </a:prstGeom>
          <a:noFill/>
          <a:ln/>
        </p:spPr>
        <p:txBody>
          <a:bodyPr wrap="square" lIns="0" tIns="0" rIns="0" bIns="0" rtlCol="0" anchor="ctr"/>
          <a:lstStyle/>
          <a:p>
            <a:pPr algn="ctr" indent="0" marL="0">
              <a:buNone/>
            </a:pPr>
            <a:r>
              <a:rPr lang="en-US" sz="1200" dirty="0">
                <a:solidFill>
                  <a:srgbClr val="5D665F"/>
                </a:solidFill>
                <a:latin typeface="Calibri" pitchFamily="34" charset="0"/>
                <a:ea typeface="Calibri" pitchFamily="34" charset="-122"/>
                <a:cs typeface="Calibri" pitchFamily="34" charset="-120"/>
              </a:rPr>
              <a:t>Registry, ban list, crop and pest</a:t>
            </a:r>
            <a:endParaRPr lang="en-US" sz="1200" dirty="0"/>
          </a:p>
        </p:txBody>
      </p:sp>
      <p:sp>
        <p:nvSpPr>
          <p:cNvPr id="13" name="Shape 11"/>
          <p:cNvSpPr/>
          <p:nvPr/>
        </p:nvSpPr>
        <p:spPr>
          <a:xfrm>
            <a:off x="3822192" y="1280160"/>
            <a:ext cx="1499616" cy="2377440"/>
          </a:xfrm>
          <a:prstGeom prst="roundRect">
            <a:avLst>
              <a:gd name="adj" fmla="val 7317"/>
            </a:avLst>
          </a:prstGeom>
          <a:solidFill>
            <a:srgbClr val="FFFFFF"/>
          </a:solidFill>
          <a:ln w="9525">
            <a:solidFill>
              <a:srgbClr val="D6DDD7"/>
            </a:solidFill>
            <a:prstDash val="solid"/>
          </a:ln>
        </p:spPr>
      </p:sp>
      <p:sp>
        <p:nvSpPr>
          <p:cNvPr id="14" name="Shape 12"/>
          <p:cNvSpPr/>
          <p:nvPr/>
        </p:nvSpPr>
        <p:spPr>
          <a:xfrm>
            <a:off x="4297680" y="1463040"/>
            <a:ext cx="548640" cy="548640"/>
          </a:xfrm>
          <a:prstGeom prst="ellipse">
            <a:avLst/>
          </a:prstGeom>
          <a:solidFill>
            <a:srgbClr val="14532D"/>
          </a:solidFill>
          <a:ln w="12700">
            <a:solidFill>
              <a:srgbClr val="14532D"/>
            </a:solidFill>
            <a:prstDash val="solid"/>
          </a:ln>
        </p:spPr>
      </p:sp>
      <p:sp>
        <p:nvSpPr>
          <p:cNvPr id="15" name="Text 13"/>
          <p:cNvSpPr txBox="1"/>
          <p:nvPr/>
        </p:nvSpPr>
        <p:spPr>
          <a:xfrm>
            <a:off x="4297680"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3913632" y="2148840"/>
            <a:ext cx="1316736" cy="365760"/>
          </a:xfrm>
          <a:prstGeom prst="rect">
            <a:avLst/>
          </a:prstGeom>
          <a:noFill/>
          <a:ln/>
        </p:spPr>
        <p:txBody>
          <a:bodyPr wrap="square" lIns="0" tIns="0" rIns="0" bIns="0" rtlCol="0" anchor="ctr"/>
          <a:lstStyle/>
          <a:p>
            <a:pPr algn="ctr" indent="0" marL="0">
              <a:buNone/>
            </a:pPr>
            <a:r>
              <a:rPr lang="en-US" sz="1600" b="1" dirty="0">
                <a:solidFill>
                  <a:srgbClr val="1D231F"/>
                </a:solidFill>
                <a:latin typeface="Cambria" pitchFamily="34" charset="0"/>
                <a:ea typeface="Cambria" pitchFamily="34" charset="-122"/>
                <a:cs typeface="Cambria" pitchFamily="34" charset="-120"/>
              </a:rPr>
              <a:t>Dose</a:t>
            </a:r>
            <a:endParaRPr lang="en-US" sz="1600" dirty="0"/>
          </a:p>
        </p:txBody>
      </p:sp>
      <p:sp>
        <p:nvSpPr>
          <p:cNvPr id="17" name="Text 15"/>
          <p:cNvSpPr txBox="1"/>
          <p:nvPr/>
        </p:nvSpPr>
        <p:spPr>
          <a:xfrm>
            <a:off x="3931920" y="2560320"/>
            <a:ext cx="1280160" cy="914400"/>
          </a:xfrm>
          <a:prstGeom prst="rect">
            <a:avLst/>
          </a:prstGeom>
          <a:noFill/>
          <a:ln/>
        </p:spPr>
        <p:txBody>
          <a:bodyPr wrap="square" lIns="0" tIns="0" rIns="0" bIns="0" rtlCol="0" anchor="ctr"/>
          <a:lstStyle/>
          <a:p>
            <a:pPr algn="ctr" indent="0" marL="0">
              <a:buNone/>
            </a:pPr>
            <a:r>
              <a:rPr lang="en-US" sz="1200" dirty="0">
                <a:solidFill>
                  <a:srgbClr val="5D665F"/>
                </a:solidFill>
                <a:latin typeface="Calibri" pitchFamily="34" charset="0"/>
                <a:ea typeface="Calibri" pitchFamily="34" charset="-122"/>
                <a:cs typeface="Calibri" pitchFamily="34" charset="-120"/>
              </a:rPr>
              <a:t>ml per tank and number of tanks</a:t>
            </a:r>
            <a:endParaRPr lang="en-US" sz="1200" dirty="0"/>
          </a:p>
        </p:txBody>
      </p:sp>
      <p:sp>
        <p:nvSpPr>
          <p:cNvPr id="18" name="Shape 16"/>
          <p:cNvSpPr/>
          <p:nvPr/>
        </p:nvSpPr>
        <p:spPr>
          <a:xfrm>
            <a:off x="5504688" y="1280160"/>
            <a:ext cx="1499616" cy="2377440"/>
          </a:xfrm>
          <a:prstGeom prst="roundRect">
            <a:avLst>
              <a:gd name="adj" fmla="val 7317"/>
            </a:avLst>
          </a:prstGeom>
          <a:solidFill>
            <a:srgbClr val="FFFFFF"/>
          </a:solidFill>
          <a:ln w="9525">
            <a:solidFill>
              <a:srgbClr val="D6DDD7"/>
            </a:solidFill>
            <a:prstDash val="solid"/>
          </a:ln>
        </p:spPr>
      </p:sp>
      <p:sp>
        <p:nvSpPr>
          <p:cNvPr id="19" name="Shape 17"/>
          <p:cNvSpPr/>
          <p:nvPr/>
        </p:nvSpPr>
        <p:spPr>
          <a:xfrm>
            <a:off x="5980176" y="1463040"/>
            <a:ext cx="548640" cy="548640"/>
          </a:xfrm>
          <a:prstGeom prst="ellipse">
            <a:avLst/>
          </a:prstGeom>
          <a:solidFill>
            <a:srgbClr val="14532D"/>
          </a:solidFill>
          <a:ln w="12700">
            <a:solidFill>
              <a:srgbClr val="14532D"/>
            </a:solidFill>
            <a:prstDash val="solid"/>
          </a:ln>
        </p:spPr>
      </p:sp>
      <p:sp>
        <p:nvSpPr>
          <p:cNvPr id="20" name="Text 18"/>
          <p:cNvSpPr txBox="1"/>
          <p:nvPr/>
        </p:nvSpPr>
        <p:spPr>
          <a:xfrm>
            <a:off x="5980176"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1" name="Text 19"/>
          <p:cNvSpPr txBox="1"/>
          <p:nvPr/>
        </p:nvSpPr>
        <p:spPr>
          <a:xfrm>
            <a:off x="5596128" y="2148840"/>
            <a:ext cx="1316736" cy="365760"/>
          </a:xfrm>
          <a:prstGeom prst="rect">
            <a:avLst/>
          </a:prstGeom>
          <a:noFill/>
          <a:ln/>
        </p:spPr>
        <p:txBody>
          <a:bodyPr wrap="square" lIns="0" tIns="0" rIns="0" bIns="0" rtlCol="0" anchor="ctr"/>
          <a:lstStyle/>
          <a:p>
            <a:pPr algn="ctr" indent="0" marL="0">
              <a:buNone/>
            </a:pPr>
            <a:r>
              <a:rPr lang="en-US" sz="1600" b="1" dirty="0">
                <a:solidFill>
                  <a:srgbClr val="1D231F"/>
                </a:solidFill>
                <a:latin typeface="Cambria" pitchFamily="34" charset="0"/>
                <a:ea typeface="Cambria" pitchFamily="34" charset="-122"/>
                <a:cs typeface="Cambria" pitchFamily="34" charset="-120"/>
              </a:rPr>
              <a:t>Safe harvest</a:t>
            </a:r>
            <a:endParaRPr lang="en-US" sz="1600" dirty="0"/>
          </a:p>
        </p:txBody>
      </p:sp>
      <p:sp>
        <p:nvSpPr>
          <p:cNvPr id="22" name="Text 20"/>
          <p:cNvSpPr txBox="1"/>
          <p:nvPr/>
        </p:nvSpPr>
        <p:spPr>
          <a:xfrm>
            <a:off x="5614416" y="2560320"/>
            <a:ext cx="1280160" cy="914400"/>
          </a:xfrm>
          <a:prstGeom prst="rect">
            <a:avLst/>
          </a:prstGeom>
          <a:noFill/>
          <a:ln/>
        </p:spPr>
        <p:txBody>
          <a:bodyPr wrap="square" lIns="0" tIns="0" rIns="0" bIns="0" rtlCol="0" anchor="ctr"/>
          <a:lstStyle/>
          <a:p>
            <a:pPr algn="ctr" indent="0" marL="0">
              <a:buNone/>
            </a:pPr>
            <a:r>
              <a:rPr lang="en-US" sz="1200" dirty="0">
                <a:solidFill>
                  <a:srgbClr val="5D665F"/>
                </a:solidFill>
                <a:latin typeface="Calibri" pitchFamily="34" charset="0"/>
                <a:ea typeface="Calibri" pitchFamily="34" charset="-122"/>
                <a:cs typeface="Calibri" pitchFamily="34" charset="-120"/>
              </a:rPr>
              <a:t>Spray date + waiting period</a:t>
            </a:r>
            <a:endParaRPr lang="en-US" sz="1200" dirty="0"/>
          </a:p>
        </p:txBody>
      </p:sp>
      <p:sp>
        <p:nvSpPr>
          <p:cNvPr id="23" name="Shape 21"/>
          <p:cNvSpPr/>
          <p:nvPr/>
        </p:nvSpPr>
        <p:spPr>
          <a:xfrm>
            <a:off x="7187184" y="1280160"/>
            <a:ext cx="1499616" cy="2377440"/>
          </a:xfrm>
          <a:prstGeom prst="roundRect">
            <a:avLst>
              <a:gd name="adj" fmla="val 7317"/>
            </a:avLst>
          </a:prstGeom>
          <a:solidFill>
            <a:srgbClr val="FFFFFF"/>
          </a:solidFill>
          <a:ln w="9525">
            <a:solidFill>
              <a:srgbClr val="D6DDD7"/>
            </a:solidFill>
            <a:prstDash val="solid"/>
          </a:ln>
        </p:spPr>
      </p:sp>
      <p:sp>
        <p:nvSpPr>
          <p:cNvPr id="24" name="Shape 22"/>
          <p:cNvSpPr/>
          <p:nvPr/>
        </p:nvSpPr>
        <p:spPr>
          <a:xfrm>
            <a:off x="7662672" y="1463040"/>
            <a:ext cx="548640" cy="548640"/>
          </a:xfrm>
          <a:prstGeom prst="ellipse">
            <a:avLst/>
          </a:prstGeom>
          <a:solidFill>
            <a:srgbClr val="14532D"/>
          </a:solidFill>
          <a:ln w="12700">
            <a:solidFill>
              <a:srgbClr val="14532D"/>
            </a:solidFill>
            <a:prstDash val="solid"/>
          </a:ln>
        </p:spPr>
      </p:sp>
      <p:sp>
        <p:nvSpPr>
          <p:cNvPr id="25" name="Text 23"/>
          <p:cNvSpPr txBox="1"/>
          <p:nvPr/>
        </p:nvSpPr>
        <p:spPr>
          <a:xfrm>
            <a:off x="7662672"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6" name="Text 24"/>
          <p:cNvSpPr txBox="1"/>
          <p:nvPr/>
        </p:nvSpPr>
        <p:spPr>
          <a:xfrm>
            <a:off x="7278624" y="2148840"/>
            <a:ext cx="1316736" cy="365760"/>
          </a:xfrm>
          <a:prstGeom prst="rect">
            <a:avLst/>
          </a:prstGeom>
          <a:noFill/>
          <a:ln/>
        </p:spPr>
        <p:txBody>
          <a:bodyPr wrap="square" lIns="0" tIns="0" rIns="0" bIns="0" rtlCol="0" anchor="ctr"/>
          <a:lstStyle/>
          <a:p>
            <a:pPr algn="ctr" indent="0" marL="0">
              <a:buNone/>
            </a:pPr>
            <a:r>
              <a:rPr lang="en-US" sz="1600" b="1" dirty="0">
                <a:solidFill>
                  <a:srgbClr val="1D231F"/>
                </a:solidFill>
                <a:latin typeface="Cambria" pitchFamily="34" charset="0"/>
                <a:ea typeface="Cambria" pitchFamily="34" charset="-122"/>
                <a:cs typeface="Cambria" pitchFamily="34" charset="-120"/>
              </a:rPr>
              <a:t>Passport</a:t>
            </a:r>
            <a:endParaRPr lang="en-US" sz="1600" dirty="0"/>
          </a:p>
        </p:txBody>
      </p:sp>
      <p:sp>
        <p:nvSpPr>
          <p:cNvPr id="27" name="Text 25"/>
          <p:cNvSpPr txBox="1"/>
          <p:nvPr/>
        </p:nvSpPr>
        <p:spPr>
          <a:xfrm>
            <a:off x="7296912" y="2560320"/>
            <a:ext cx="1280160" cy="914400"/>
          </a:xfrm>
          <a:prstGeom prst="rect">
            <a:avLst/>
          </a:prstGeom>
          <a:noFill/>
          <a:ln/>
        </p:spPr>
        <p:txBody>
          <a:bodyPr wrap="square" lIns="0" tIns="0" rIns="0" bIns="0" rtlCol="0" anchor="ctr"/>
          <a:lstStyle/>
          <a:p>
            <a:pPr algn="ctr" indent="0" marL="0">
              <a:buNone/>
            </a:pPr>
            <a:r>
              <a:rPr lang="en-US" sz="1200" dirty="0">
                <a:solidFill>
                  <a:srgbClr val="5D665F"/>
                </a:solidFill>
                <a:latin typeface="Calibri" pitchFamily="34" charset="0"/>
                <a:ea typeface="Calibri" pitchFamily="34" charset="-122"/>
                <a:cs typeface="Calibri" pitchFamily="34" charset="-120"/>
              </a:rPr>
              <a:t>QR spray record for the buyer</a:t>
            </a:r>
            <a:endParaRPr lang="en-US" sz="1200" dirty="0"/>
          </a:p>
        </p:txBody>
      </p:sp>
      <p:sp>
        <p:nvSpPr>
          <p:cNvPr id="28" name="Text 26"/>
          <p:cNvSpPr txBox="1"/>
          <p:nvPr/>
        </p:nvSpPr>
        <p:spPr>
          <a:xfrm>
            <a:off x="457200" y="3931920"/>
            <a:ext cx="8229600" cy="457200"/>
          </a:xfrm>
          <a:prstGeom prst="rect">
            <a:avLst/>
          </a:prstGeom>
          <a:noFill/>
          <a:ln/>
        </p:spPr>
        <p:txBody>
          <a:bodyPr wrap="square" lIns="0" tIns="0" rIns="0" bIns="0" rtlCol="0" anchor="ctr"/>
          <a:lstStyle/>
          <a:p>
            <a:pPr algn="ctr" indent="0" marL="0">
              <a:buNone/>
            </a:pPr>
            <a:r>
              <a:rPr lang="en-US" sz="1500" b="1" dirty="0">
                <a:solidFill>
                  <a:srgbClr val="14532D"/>
                </a:solidFill>
                <a:latin typeface="Calibri" pitchFamily="34" charset="0"/>
                <a:ea typeface="Calibri" pitchFamily="34" charset="-122"/>
                <a:cs typeface="Calibri" pitchFamily="34" charset="-120"/>
              </a:rPr>
              <a:t>Three taps to a spoken verdict in Hindi, Marathi or Punjabi. Colour + icon + sound, never colour alone.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D231F"/>
                </a:solidFill>
                <a:latin typeface="Cambria" pitchFamily="34" charset="0"/>
                <a:ea typeface="Cambria" pitchFamily="34" charset="-122"/>
                <a:cs typeface="Cambria" pitchFamily="34" charset="-120"/>
              </a:rPr>
              <a:t>Six features built on one engine</a:t>
            </a:r>
            <a:endParaRPr lang="en-US" sz="3000" dirty="0"/>
          </a:p>
        </p:txBody>
      </p:sp>
      <p:sp>
        <p:nvSpPr>
          <p:cNvPr id="3" name="Shape 1"/>
          <p:cNvSpPr/>
          <p:nvPr/>
        </p:nvSpPr>
        <p:spPr>
          <a:xfrm>
            <a:off x="457200" y="1188720"/>
            <a:ext cx="2606040" cy="1600200"/>
          </a:xfrm>
          <a:prstGeom prst="roundRect">
            <a:avLst>
              <a:gd name="adj" fmla="val 6857"/>
            </a:avLst>
          </a:prstGeom>
          <a:solidFill>
            <a:srgbClr val="F7FAF7"/>
          </a:solidFill>
          <a:ln w="9525">
            <a:solidFill>
              <a:srgbClr val="D6DDD7"/>
            </a:solidFill>
            <a:prstDash val="solid"/>
          </a:ln>
        </p:spPr>
      </p:sp>
      <p:sp>
        <p:nvSpPr>
          <p:cNvPr id="4" name="Shape 2"/>
          <p:cNvSpPr/>
          <p:nvPr/>
        </p:nvSpPr>
        <p:spPr>
          <a:xfrm>
            <a:off x="640080" y="1371600"/>
            <a:ext cx="502920" cy="502920"/>
          </a:xfrm>
          <a:prstGeom prst="ellipse">
            <a:avLst/>
          </a:prstGeom>
          <a:solidFill>
            <a:srgbClr val="1F7A3A"/>
          </a:solidFill>
          <a:ln w="12700">
            <a:solidFill>
              <a:srgbClr val="1F7A3A"/>
            </a:solidFill>
            <a:prstDash val="solid"/>
          </a:ln>
        </p:spPr>
      </p:sp>
      <p:sp>
        <p:nvSpPr>
          <p:cNvPr id="5" name="Text 3"/>
          <p:cNvSpPr txBox="1"/>
          <p:nvPr/>
        </p:nvSpPr>
        <p:spPr>
          <a:xfrm>
            <a:off x="640080" y="1371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80160" y="1417320"/>
            <a:ext cx="1691640" cy="411480"/>
          </a:xfrm>
          <a:prstGeom prst="rect">
            <a:avLst/>
          </a:prstGeom>
          <a:noFill/>
          <a:ln/>
        </p:spPr>
        <p:txBody>
          <a:bodyPr wrap="square" lIns="0" tIns="0" rIns="0" bIns="0" rtlCol="0" anchor="ctr"/>
          <a:lstStyle/>
          <a:p>
            <a:pPr indent="0" marL="0">
              <a:buNone/>
            </a:pPr>
            <a:r>
              <a:rPr lang="en-US" sz="1500" b="1" dirty="0">
                <a:solidFill>
                  <a:srgbClr val="1D231F"/>
                </a:solidFill>
                <a:latin typeface="Cambria" pitchFamily="34" charset="0"/>
                <a:ea typeface="Cambria" pitchFamily="34" charset="-122"/>
                <a:cs typeface="Cambria" pitchFamily="34" charset="-120"/>
              </a:rPr>
              <a:t>Bill Scan</a:t>
            </a:r>
            <a:endParaRPr lang="en-US" sz="1500" dirty="0"/>
          </a:p>
        </p:txBody>
      </p:sp>
      <p:sp>
        <p:nvSpPr>
          <p:cNvPr id="7" name="Text 5"/>
          <p:cNvSpPr txBox="1"/>
          <p:nvPr/>
        </p:nvSpPr>
        <p:spPr>
          <a:xfrm>
            <a:off x="640080" y="2011680"/>
            <a:ext cx="2286000" cy="685800"/>
          </a:xfrm>
          <a:prstGeom prst="rect">
            <a:avLst/>
          </a:prstGeom>
          <a:noFill/>
          <a:ln/>
        </p:spPr>
        <p:txBody>
          <a:bodyPr wrap="square" lIns="0" tIns="0" rIns="0" bIns="0" rtlCol="0" anchor="ctr"/>
          <a:lstStyle/>
          <a:p>
            <a:pPr indent="0" marL="0">
              <a:buNone/>
            </a:pPr>
            <a:r>
              <a:rPr lang="en-US" sz="1200" dirty="0">
                <a:solidFill>
                  <a:srgbClr val="5D665F"/>
                </a:solidFill>
                <a:latin typeface="Calibri" pitchFamily="34" charset="0"/>
                <a:ea typeface="Calibri" pitchFamily="34" charset="-122"/>
                <a:cs typeface="Calibri" pitchFamily="34" charset="-120"/>
              </a:rPr>
              <a:t>Every item on the dealer's bill checked; same chemical for less</a:t>
            </a:r>
            <a:endParaRPr lang="en-US" sz="1200" dirty="0"/>
          </a:p>
        </p:txBody>
      </p:sp>
      <p:sp>
        <p:nvSpPr>
          <p:cNvPr id="8" name="Shape 6"/>
          <p:cNvSpPr/>
          <p:nvPr/>
        </p:nvSpPr>
        <p:spPr>
          <a:xfrm>
            <a:off x="3246120" y="1188720"/>
            <a:ext cx="2606040" cy="1600200"/>
          </a:xfrm>
          <a:prstGeom prst="roundRect">
            <a:avLst>
              <a:gd name="adj" fmla="val 6857"/>
            </a:avLst>
          </a:prstGeom>
          <a:solidFill>
            <a:srgbClr val="F7FAF7"/>
          </a:solidFill>
          <a:ln w="9525">
            <a:solidFill>
              <a:srgbClr val="D6DDD7"/>
            </a:solidFill>
            <a:prstDash val="solid"/>
          </a:ln>
        </p:spPr>
      </p:sp>
      <p:sp>
        <p:nvSpPr>
          <p:cNvPr id="9" name="Shape 7"/>
          <p:cNvSpPr/>
          <p:nvPr/>
        </p:nvSpPr>
        <p:spPr>
          <a:xfrm>
            <a:off x="3429000" y="1371600"/>
            <a:ext cx="502920" cy="502920"/>
          </a:xfrm>
          <a:prstGeom prst="ellipse">
            <a:avLst/>
          </a:prstGeom>
          <a:solidFill>
            <a:srgbClr val="1F7A3A"/>
          </a:solidFill>
          <a:ln w="12700">
            <a:solidFill>
              <a:srgbClr val="1F7A3A"/>
            </a:solidFill>
            <a:prstDash val="solid"/>
          </a:ln>
        </p:spPr>
      </p:sp>
      <p:sp>
        <p:nvSpPr>
          <p:cNvPr id="10" name="Text 8"/>
          <p:cNvSpPr txBox="1"/>
          <p:nvPr/>
        </p:nvSpPr>
        <p:spPr>
          <a:xfrm>
            <a:off x="3429000" y="1371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4069080" y="1417320"/>
            <a:ext cx="1691640" cy="411480"/>
          </a:xfrm>
          <a:prstGeom prst="rect">
            <a:avLst/>
          </a:prstGeom>
          <a:noFill/>
          <a:ln/>
        </p:spPr>
        <p:txBody>
          <a:bodyPr wrap="square" lIns="0" tIns="0" rIns="0" bIns="0" rtlCol="0" anchor="ctr"/>
          <a:lstStyle/>
          <a:p>
            <a:pPr indent="0" marL="0">
              <a:buNone/>
            </a:pPr>
            <a:r>
              <a:rPr lang="en-US" sz="1500" b="1" dirty="0">
                <a:solidFill>
                  <a:srgbClr val="1D231F"/>
                </a:solidFill>
                <a:latin typeface="Cambria" pitchFamily="34" charset="0"/>
                <a:ea typeface="Cambria" pitchFamily="34" charset="-122"/>
                <a:cs typeface="Cambria" pitchFamily="34" charset="-120"/>
              </a:rPr>
              <a:t>Cocktail Checker</a:t>
            </a:r>
            <a:endParaRPr lang="en-US" sz="1500" dirty="0"/>
          </a:p>
        </p:txBody>
      </p:sp>
      <p:sp>
        <p:nvSpPr>
          <p:cNvPr id="12" name="Text 10"/>
          <p:cNvSpPr txBox="1"/>
          <p:nvPr/>
        </p:nvSpPr>
        <p:spPr>
          <a:xfrm>
            <a:off x="3429000" y="2011680"/>
            <a:ext cx="2286000" cy="685800"/>
          </a:xfrm>
          <a:prstGeom prst="rect">
            <a:avLst/>
          </a:prstGeom>
          <a:noFill/>
          <a:ln/>
        </p:spPr>
        <p:txBody>
          <a:bodyPr wrap="square" lIns="0" tIns="0" rIns="0" bIns="0" rtlCol="0" anchor="ctr"/>
          <a:lstStyle/>
          <a:p>
            <a:pPr indent="0" marL="0">
              <a:buNone/>
            </a:pPr>
            <a:r>
              <a:rPr lang="en-US" sz="1200" dirty="0">
                <a:solidFill>
                  <a:srgbClr val="5D665F"/>
                </a:solidFill>
                <a:latin typeface="Calibri" pitchFamily="34" charset="0"/>
                <a:ea typeface="Calibri" pitchFamily="34" charset="-122"/>
                <a:cs typeface="Calibri" pitchFamily="34" charset="-120"/>
              </a:rPr>
              <a:t>Double doses, same resistance group, stacked toxicity</a:t>
            </a:r>
            <a:endParaRPr lang="en-US" sz="1200" dirty="0"/>
          </a:p>
        </p:txBody>
      </p:sp>
      <p:sp>
        <p:nvSpPr>
          <p:cNvPr id="13" name="Shape 11"/>
          <p:cNvSpPr/>
          <p:nvPr/>
        </p:nvSpPr>
        <p:spPr>
          <a:xfrm>
            <a:off x="6035040" y="1188720"/>
            <a:ext cx="2606040" cy="1600200"/>
          </a:xfrm>
          <a:prstGeom prst="roundRect">
            <a:avLst>
              <a:gd name="adj" fmla="val 6857"/>
            </a:avLst>
          </a:prstGeom>
          <a:solidFill>
            <a:srgbClr val="F7FAF7"/>
          </a:solidFill>
          <a:ln w="9525">
            <a:solidFill>
              <a:srgbClr val="D6DDD7"/>
            </a:solidFill>
            <a:prstDash val="solid"/>
          </a:ln>
        </p:spPr>
      </p:sp>
      <p:sp>
        <p:nvSpPr>
          <p:cNvPr id="14" name="Shape 12"/>
          <p:cNvSpPr/>
          <p:nvPr/>
        </p:nvSpPr>
        <p:spPr>
          <a:xfrm>
            <a:off x="6217920" y="1371600"/>
            <a:ext cx="502920" cy="502920"/>
          </a:xfrm>
          <a:prstGeom prst="ellipse">
            <a:avLst/>
          </a:prstGeom>
          <a:solidFill>
            <a:srgbClr val="1F7A3A"/>
          </a:solidFill>
          <a:ln w="12700">
            <a:solidFill>
              <a:srgbClr val="1F7A3A"/>
            </a:solidFill>
            <a:prstDash val="solid"/>
          </a:ln>
        </p:spPr>
      </p:sp>
      <p:sp>
        <p:nvSpPr>
          <p:cNvPr id="15" name="Text 13"/>
          <p:cNvSpPr txBox="1"/>
          <p:nvPr/>
        </p:nvSpPr>
        <p:spPr>
          <a:xfrm>
            <a:off x="6217920" y="1371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6858000" y="1417320"/>
            <a:ext cx="1691640" cy="411480"/>
          </a:xfrm>
          <a:prstGeom prst="rect">
            <a:avLst/>
          </a:prstGeom>
          <a:noFill/>
          <a:ln/>
        </p:spPr>
        <p:txBody>
          <a:bodyPr wrap="square" lIns="0" tIns="0" rIns="0" bIns="0" rtlCol="0" anchor="ctr"/>
          <a:lstStyle/>
          <a:p>
            <a:pPr indent="0" marL="0">
              <a:buNone/>
            </a:pPr>
            <a:r>
              <a:rPr lang="en-US" sz="1500" b="1" dirty="0">
                <a:solidFill>
                  <a:srgbClr val="1D231F"/>
                </a:solidFill>
                <a:latin typeface="Cambria" pitchFamily="34" charset="0"/>
                <a:ea typeface="Cambria" pitchFamily="34" charset="-122"/>
                <a:cs typeface="Cambria" pitchFamily="34" charset="-120"/>
              </a:rPr>
              <a:t>MRL Passport</a:t>
            </a:r>
            <a:endParaRPr lang="en-US" sz="1500" dirty="0"/>
          </a:p>
        </p:txBody>
      </p:sp>
      <p:sp>
        <p:nvSpPr>
          <p:cNvPr id="17" name="Text 15"/>
          <p:cNvSpPr txBox="1"/>
          <p:nvPr/>
        </p:nvSpPr>
        <p:spPr>
          <a:xfrm>
            <a:off x="6217920" y="2011680"/>
            <a:ext cx="2286000" cy="685800"/>
          </a:xfrm>
          <a:prstGeom prst="rect">
            <a:avLst/>
          </a:prstGeom>
          <a:noFill/>
          <a:ln/>
        </p:spPr>
        <p:txBody>
          <a:bodyPr wrap="square" lIns="0" tIns="0" rIns="0" bIns="0" rtlCol="0" anchor="ctr"/>
          <a:lstStyle/>
          <a:p>
            <a:pPr indent="0" marL="0">
              <a:buNone/>
            </a:pPr>
            <a:r>
              <a:rPr lang="en-US" sz="1200" dirty="0">
                <a:solidFill>
                  <a:srgbClr val="5D665F"/>
                </a:solidFill>
                <a:latin typeface="Calibri" pitchFamily="34" charset="0"/>
                <a:ea typeface="Calibri" pitchFamily="34" charset="-122"/>
                <a:cs typeface="Calibri" pitchFamily="34" charset="-120"/>
              </a:rPr>
              <a:t>Spray record + safe date the exporter can scan</a:t>
            </a:r>
            <a:endParaRPr lang="en-US" sz="1200" dirty="0"/>
          </a:p>
        </p:txBody>
      </p:sp>
      <p:sp>
        <p:nvSpPr>
          <p:cNvPr id="18" name="Shape 16"/>
          <p:cNvSpPr/>
          <p:nvPr/>
        </p:nvSpPr>
        <p:spPr>
          <a:xfrm>
            <a:off x="457200" y="2971800"/>
            <a:ext cx="2606040" cy="1600200"/>
          </a:xfrm>
          <a:prstGeom prst="roundRect">
            <a:avLst>
              <a:gd name="adj" fmla="val 6857"/>
            </a:avLst>
          </a:prstGeom>
          <a:solidFill>
            <a:srgbClr val="FDE4E1"/>
          </a:solidFill>
          <a:ln w="9525">
            <a:solidFill>
              <a:srgbClr val="D6DDD7"/>
            </a:solidFill>
            <a:prstDash val="solid"/>
          </a:ln>
        </p:spPr>
      </p:sp>
      <p:sp>
        <p:nvSpPr>
          <p:cNvPr id="19" name="Shape 17"/>
          <p:cNvSpPr/>
          <p:nvPr/>
        </p:nvSpPr>
        <p:spPr>
          <a:xfrm>
            <a:off x="640080" y="3154680"/>
            <a:ext cx="502920" cy="502920"/>
          </a:xfrm>
          <a:prstGeom prst="ellipse">
            <a:avLst/>
          </a:prstGeom>
          <a:solidFill>
            <a:srgbClr val="B3261E"/>
          </a:solidFill>
          <a:ln w="12700">
            <a:solidFill>
              <a:srgbClr val="B3261E"/>
            </a:solidFill>
            <a:prstDash val="solid"/>
          </a:ln>
        </p:spPr>
      </p:sp>
      <p:sp>
        <p:nvSpPr>
          <p:cNvPr id="20" name="Text 18"/>
          <p:cNvSpPr txBox="1"/>
          <p:nvPr/>
        </p:nvSpPr>
        <p:spPr>
          <a:xfrm>
            <a:off x="640080" y="3154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1280160" y="3200400"/>
            <a:ext cx="1691640" cy="411480"/>
          </a:xfrm>
          <a:prstGeom prst="rect">
            <a:avLst/>
          </a:prstGeom>
          <a:noFill/>
          <a:ln/>
        </p:spPr>
        <p:txBody>
          <a:bodyPr wrap="square" lIns="0" tIns="0" rIns="0" bIns="0" rtlCol="0" anchor="ctr"/>
          <a:lstStyle/>
          <a:p>
            <a:pPr indent="0" marL="0">
              <a:buNone/>
            </a:pPr>
            <a:r>
              <a:rPr lang="en-US" sz="1500" b="1" dirty="0">
                <a:solidFill>
                  <a:srgbClr val="1D231F"/>
                </a:solidFill>
                <a:latin typeface="Cambria" pitchFamily="34" charset="0"/>
                <a:ea typeface="Cambria" pitchFamily="34" charset="-122"/>
                <a:cs typeface="Cambria" pitchFamily="34" charset="-120"/>
              </a:rPr>
              <a:t>Doctor Card + SOS</a:t>
            </a:r>
            <a:endParaRPr lang="en-US" sz="1500" dirty="0"/>
          </a:p>
        </p:txBody>
      </p:sp>
      <p:sp>
        <p:nvSpPr>
          <p:cNvPr id="22" name="Text 20"/>
          <p:cNvSpPr txBox="1"/>
          <p:nvPr/>
        </p:nvSpPr>
        <p:spPr>
          <a:xfrm>
            <a:off x="640080" y="3794760"/>
            <a:ext cx="2286000" cy="685800"/>
          </a:xfrm>
          <a:prstGeom prst="rect">
            <a:avLst/>
          </a:prstGeom>
          <a:noFill/>
          <a:ln/>
        </p:spPr>
        <p:txBody>
          <a:bodyPr wrap="square" lIns="0" tIns="0" rIns="0" bIns="0" rtlCol="0" anchor="ctr"/>
          <a:lstStyle/>
          <a:p>
            <a:pPr indent="0" marL="0">
              <a:buNone/>
            </a:pPr>
            <a:r>
              <a:rPr lang="en-US" sz="1200" dirty="0">
                <a:solidFill>
                  <a:srgbClr val="5D665F"/>
                </a:solidFill>
                <a:latin typeface="Calibri" pitchFamily="34" charset="0"/>
                <a:ea typeface="Calibri" pitchFamily="34" charset="-122"/>
                <a:cs typeface="Calibri" pitchFamily="34" charset="-120"/>
              </a:rPr>
              <a:t>Chemical, class and label antidote; NPIC 1800 116 117</a:t>
            </a:r>
            <a:endParaRPr lang="en-US" sz="1200" dirty="0"/>
          </a:p>
        </p:txBody>
      </p:sp>
      <p:sp>
        <p:nvSpPr>
          <p:cNvPr id="23" name="Shape 21"/>
          <p:cNvSpPr/>
          <p:nvPr/>
        </p:nvSpPr>
        <p:spPr>
          <a:xfrm>
            <a:off x="3246120" y="2971800"/>
            <a:ext cx="2606040" cy="1600200"/>
          </a:xfrm>
          <a:prstGeom prst="roundRect">
            <a:avLst>
              <a:gd name="adj" fmla="val 6857"/>
            </a:avLst>
          </a:prstGeom>
          <a:solidFill>
            <a:srgbClr val="F7FAF7"/>
          </a:solidFill>
          <a:ln w="9525">
            <a:solidFill>
              <a:srgbClr val="D6DDD7"/>
            </a:solidFill>
            <a:prstDash val="solid"/>
          </a:ln>
        </p:spPr>
      </p:sp>
      <p:sp>
        <p:nvSpPr>
          <p:cNvPr id="24" name="Shape 22"/>
          <p:cNvSpPr/>
          <p:nvPr/>
        </p:nvSpPr>
        <p:spPr>
          <a:xfrm>
            <a:off x="3429000" y="3154680"/>
            <a:ext cx="502920" cy="502920"/>
          </a:xfrm>
          <a:prstGeom prst="ellipse">
            <a:avLst/>
          </a:prstGeom>
          <a:solidFill>
            <a:srgbClr val="1F7A3A"/>
          </a:solidFill>
          <a:ln w="12700">
            <a:solidFill>
              <a:srgbClr val="1F7A3A"/>
            </a:solidFill>
            <a:prstDash val="solid"/>
          </a:ln>
        </p:spPr>
      </p:sp>
      <p:sp>
        <p:nvSpPr>
          <p:cNvPr id="25" name="Text 23"/>
          <p:cNvSpPr txBox="1"/>
          <p:nvPr/>
        </p:nvSpPr>
        <p:spPr>
          <a:xfrm>
            <a:off x="3429000" y="3154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txBox="1"/>
          <p:nvPr/>
        </p:nvSpPr>
        <p:spPr>
          <a:xfrm>
            <a:off x="4069080" y="3200400"/>
            <a:ext cx="1691640" cy="411480"/>
          </a:xfrm>
          <a:prstGeom prst="rect">
            <a:avLst/>
          </a:prstGeom>
          <a:noFill/>
          <a:ln/>
        </p:spPr>
        <p:txBody>
          <a:bodyPr wrap="square" lIns="0" tIns="0" rIns="0" bIns="0" rtlCol="0" anchor="ctr"/>
          <a:lstStyle/>
          <a:p>
            <a:pPr indent="0" marL="0">
              <a:buNone/>
            </a:pPr>
            <a:r>
              <a:rPr lang="en-US" sz="1500" b="1" dirty="0">
                <a:solidFill>
                  <a:srgbClr val="1D231F"/>
                </a:solidFill>
                <a:latin typeface="Cambria" pitchFamily="34" charset="0"/>
                <a:ea typeface="Cambria" pitchFamily="34" charset="-122"/>
                <a:cs typeface="Cambria" pitchFamily="34" charset="-120"/>
              </a:rPr>
              <a:t>Rotation Planner</a:t>
            </a:r>
            <a:endParaRPr lang="en-US" sz="1500" dirty="0"/>
          </a:p>
        </p:txBody>
      </p:sp>
      <p:sp>
        <p:nvSpPr>
          <p:cNvPr id="27" name="Text 25"/>
          <p:cNvSpPr txBox="1"/>
          <p:nvPr/>
        </p:nvSpPr>
        <p:spPr>
          <a:xfrm>
            <a:off x="3429000" y="3794760"/>
            <a:ext cx="2286000" cy="685800"/>
          </a:xfrm>
          <a:prstGeom prst="rect">
            <a:avLst/>
          </a:prstGeom>
          <a:noFill/>
          <a:ln/>
        </p:spPr>
        <p:txBody>
          <a:bodyPr wrap="square" lIns="0" tIns="0" rIns="0" bIns="0" rtlCol="0" anchor="ctr"/>
          <a:lstStyle/>
          <a:p>
            <a:pPr indent="0" marL="0">
              <a:buNone/>
            </a:pPr>
            <a:r>
              <a:rPr lang="en-US" sz="1200" dirty="0">
                <a:solidFill>
                  <a:srgbClr val="5D665F"/>
                </a:solidFill>
                <a:latin typeface="Calibri" pitchFamily="34" charset="0"/>
                <a:ea typeface="Calibri" pitchFamily="34" charset="-122"/>
                <a:cs typeface="Calibri" pitchFamily="34" charset="-120"/>
              </a:rPr>
              <a:t>Next spray from a different IRAC/FRAC group</a:t>
            </a:r>
            <a:endParaRPr lang="en-US" sz="1200" dirty="0"/>
          </a:p>
        </p:txBody>
      </p:sp>
      <p:sp>
        <p:nvSpPr>
          <p:cNvPr id="28" name="Shape 26"/>
          <p:cNvSpPr/>
          <p:nvPr/>
        </p:nvSpPr>
        <p:spPr>
          <a:xfrm>
            <a:off x="6035040" y="2971800"/>
            <a:ext cx="2606040" cy="1600200"/>
          </a:xfrm>
          <a:prstGeom prst="roundRect">
            <a:avLst>
              <a:gd name="adj" fmla="val 6857"/>
            </a:avLst>
          </a:prstGeom>
          <a:solidFill>
            <a:srgbClr val="F7FAF7"/>
          </a:solidFill>
          <a:ln w="9525">
            <a:solidFill>
              <a:srgbClr val="D6DDD7"/>
            </a:solidFill>
            <a:prstDash val="solid"/>
          </a:ln>
        </p:spPr>
      </p:sp>
      <p:sp>
        <p:nvSpPr>
          <p:cNvPr id="29" name="Shape 27"/>
          <p:cNvSpPr/>
          <p:nvPr/>
        </p:nvSpPr>
        <p:spPr>
          <a:xfrm>
            <a:off x="6217920" y="3154680"/>
            <a:ext cx="502920" cy="502920"/>
          </a:xfrm>
          <a:prstGeom prst="ellipse">
            <a:avLst/>
          </a:prstGeom>
          <a:solidFill>
            <a:srgbClr val="1F7A3A"/>
          </a:solidFill>
          <a:ln w="12700">
            <a:solidFill>
              <a:srgbClr val="1F7A3A"/>
            </a:solidFill>
            <a:prstDash val="solid"/>
          </a:ln>
        </p:spPr>
      </p:sp>
      <p:sp>
        <p:nvSpPr>
          <p:cNvPr id="30" name="Text 28"/>
          <p:cNvSpPr txBox="1"/>
          <p:nvPr/>
        </p:nvSpPr>
        <p:spPr>
          <a:xfrm>
            <a:off x="6217920" y="3154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1" name="Text 29"/>
          <p:cNvSpPr txBox="1"/>
          <p:nvPr/>
        </p:nvSpPr>
        <p:spPr>
          <a:xfrm>
            <a:off x="6858000" y="3200400"/>
            <a:ext cx="1691640" cy="411480"/>
          </a:xfrm>
          <a:prstGeom prst="rect">
            <a:avLst/>
          </a:prstGeom>
          <a:noFill/>
          <a:ln/>
        </p:spPr>
        <p:txBody>
          <a:bodyPr wrap="square" lIns="0" tIns="0" rIns="0" bIns="0" rtlCol="0" anchor="ctr"/>
          <a:lstStyle/>
          <a:p>
            <a:pPr indent="0" marL="0">
              <a:buNone/>
            </a:pPr>
            <a:r>
              <a:rPr lang="en-US" sz="1500" b="1" dirty="0">
                <a:solidFill>
                  <a:srgbClr val="1D231F"/>
                </a:solidFill>
                <a:latin typeface="Cambria" pitchFamily="34" charset="0"/>
                <a:ea typeface="Cambria" pitchFamily="34" charset="-122"/>
                <a:cs typeface="Cambria" pitchFamily="34" charset="-120"/>
              </a:rPr>
              <a:t>Fake-Batch Radar</a:t>
            </a:r>
            <a:endParaRPr lang="en-US" sz="1500" dirty="0"/>
          </a:p>
        </p:txBody>
      </p:sp>
      <p:sp>
        <p:nvSpPr>
          <p:cNvPr id="32" name="Text 30"/>
          <p:cNvSpPr txBox="1"/>
          <p:nvPr/>
        </p:nvSpPr>
        <p:spPr>
          <a:xfrm>
            <a:off x="6217920" y="3794760"/>
            <a:ext cx="2286000" cy="685800"/>
          </a:xfrm>
          <a:prstGeom prst="rect">
            <a:avLst/>
          </a:prstGeom>
          <a:noFill/>
          <a:ln/>
        </p:spPr>
        <p:txBody>
          <a:bodyPr wrap="square" lIns="0" tIns="0" rIns="0" bIns="0" rtlCol="0" anchor="ctr"/>
          <a:lstStyle/>
          <a:p>
            <a:pPr indent="0" marL="0">
              <a:buNone/>
            </a:pPr>
            <a:r>
              <a:rPr lang="en-US" sz="1200" dirty="0">
                <a:solidFill>
                  <a:srgbClr val="5D665F"/>
                </a:solidFill>
                <a:latin typeface="Calibri" pitchFamily="34" charset="0"/>
                <a:ea typeface="Calibri" pitchFamily="34" charset="-122"/>
                <a:cs typeface="Calibri" pitchFamily="34" charset="-120"/>
              </a:rPr>
              <a:t>Same batch with different dates, cloned QR codes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D231F"/>
                </a:solidFill>
                <a:latin typeface="Cambria" pitchFamily="34" charset="0"/>
                <a:ea typeface="Cambria" pitchFamily="34" charset="-122"/>
                <a:cs typeface="Cambria" pitchFamily="34" charset="-120"/>
              </a:rPr>
              <a:t>AI reads, rules decide</a:t>
            </a:r>
            <a:endParaRPr lang="en-US" sz="3000" dirty="0"/>
          </a:p>
        </p:txBody>
      </p:sp>
      <p:sp>
        <p:nvSpPr>
          <p:cNvPr id="3" name="Shape 1"/>
          <p:cNvSpPr/>
          <p:nvPr/>
        </p:nvSpPr>
        <p:spPr>
          <a:xfrm>
            <a:off x="457200" y="1051560"/>
            <a:ext cx="2651760" cy="731520"/>
          </a:xfrm>
          <a:prstGeom prst="roundRect">
            <a:avLst>
              <a:gd name="adj" fmla="val 15000"/>
            </a:avLst>
          </a:prstGeom>
          <a:solidFill>
            <a:srgbClr val="F7FAF7"/>
          </a:solidFill>
          <a:ln w="9525">
            <a:solidFill>
              <a:srgbClr val="D6DDD7"/>
            </a:solidFill>
            <a:prstDash val="solid"/>
          </a:ln>
        </p:spPr>
      </p:sp>
      <p:sp>
        <p:nvSpPr>
          <p:cNvPr id="4" name="Text 2"/>
          <p:cNvSpPr txBox="1"/>
          <p:nvPr/>
        </p:nvSpPr>
        <p:spPr>
          <a:xfrm>
            <a:off x="594360" y="1143000"/>
            <a:ext cx="2377440" cy="320040"/>
          </a:xfrm>
          <a:prstGeom prst="rect">
            <a:avLst/>
          </a:prstGeom>
          <a:noFill/>
          <a:ln/>
        </p:spPr>
        <p:txBody>
          <a:bodyPr wrap="square" lIns="0" tIns="0" rIns="0" bIns="0" rtlCol="0" anchor="ctr"/>
          <a:lstStyle/>
          <a:p>
            <a:pPr indent="0" marL="0">
              <a:buNone/>
            </a:pPr>
            <a:r>
              <a:rPr lang="en-US" sz="1300" b="1" dirty="0">
                <a:solidFill>
                  <a:srgbClr val="1D231F"/>
                </a:solidFill>
                <a:latin typeface="Calibri" pitchFamily="34" charset="0"/>
                <a:ea typeface="Calibri" pitchFamily="34" charset="-122"/>
                <a:cs typeface="Calibri" pitchFamily="34" charset="-120"/>
              </a:rPr>
              <a:t>Farmer app (PWA)</a:t>
            </a:r>
            <a:endParaRPr lang="en-US" sz="1300" dirty="0"/>
          </a:p>
        </p:txBody>
      </p:sp>
      <p:sp>
        <p:nvSpPr>
          <p:cNvPr id="5" name="Text 3"/>
          <p:cNvSpPr txBox="1"/>
          <p:nvPr/>
        </p:nvSpPr>
        <p:spPr>
          <a:xfrm>
            <a:off x="594360" y="1463040"/>
            <a:ext cx="2377440" cy="27432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Camera, voice, offline cache</a:t>
            </a:r>
            <a:endParaRPr lang="en-US" sz="1050" dirty="0"/>
          </a:p>
        </p:txBody>
      </p:sp>
      <p:sp>
        <p:nvSpPr>
          <p:cNvPr id="6" name="Shape 4"/>
          <p:cNvSpPr/>
          <p:nvPr/>
        </p:nvSpPr>
        <p:spPr>
          <a:xfrm>
            <a:off x="3246120" y="1051560"/>
            <a:ext cx="2651760" cy="731520"/>
          </a:xfrm>
          <a:prstGeom prst="roundRect">
            <a:avLst>
              <a:gd name="adj" fmla="val 15000"/>
            </a:avLst>
          </a:prstGeom>
          <a:solidFill>
            <a:srgbClr val="F7FAF7"/>
          </a:solidFill>
          <a:ln w="9525">
            <a:solidFill>
              <a:srgbClr val="D6DDD7"/>
            </a:solidFill>
            <a:prstDash val="solid"/>
          </a:ln>
        </p:spPr>
      </p:sp>
      <p:sp>
        <p:nvSpPr>
          <p:cNvPr id="7" name="Text 5"/>
          <p:cNvSpPr txBox="1"/>
          <p:nvPr/>
        </p:nvSpPr>
        <p:spPr>
          <a:xfrm>
            <a:off x="3383280" y="1143000"/>
            <a:ext cx="2377440" cy="320040"/>
          </a:xfrm>
          <a:prstGeom prst="rect">
            <a:avLst/>
          </a:prstGeom>
          <a:noFill/>
          <a:ln/>
        </p:spPr>
        <p:txBody>
          <a:bodyPr wrap="square" lIns="0" tIns="0" rIns="0" bIns="0" rtlCol="0" anchor="ctr"/>
          <a:lstStyle/>
          <a:p>
            <a:pPr indent="0" marL="0">
              <a:buNone/>
            </a:pPr>
            <a:r>
              <a:rPr lang="en-US" sz="1300" b="1" dirty="0">
                <a:solidFill>
                  <a:srgbClr val="1D231F"/>
                </a:solidFill>
                <a:latin typeface="Calibri" pitchFamily="34" charset="0"/>
                <a:ea typeface="Calibri" pitchFamily="34" charset="-122"/>
                <a:cs typeface="Calibri" pitchFamily="34" charset="-120"/>
              </a:rPr>
              <a:t>Officer / FPO dashboard</a:t>
            </a:r>
            <a:endParaRPr lang="en-US" sz="1300" dirty="0"/>
          </a:p>
        </p:txBody>
      </p:sp>
      <p:sp>
        <p:nvSpPr>
          <p:cNvPr id="8" name="Text 6"/>
          <p:cNvSpPr txBox="1"/>
          <p:nvPr/>
        </p:nvSpPr>
        <p:spPr>
          <a:xfrm>
            <a:off x="3383280" y="1463040"/>
            <a:ext cx="2377440" cy="27432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Radar map, passports</a:t>
            </a:r>
            <a:endParaRPr lang="en-US" sz="1050" dirty="0"/>
          </a:p>
        </p:txBody>
      </p:sp>
      <p:sp>
        <p:nvSpPr>
          <p:cNvPr id="9" name="Shape 7"/>
          <p:cNvSpPr/>
          <p:nvPr/>
        </p:nvSpPr>
        <p:spPr>
          <a:xfrm>
            <a:off x="6035040" y="1051560"/>
            <a:ext cx="2651760" cy="731520"/>
          </a:xfrm>
          <a:prstGeom prst="roundRect">
            <a:avLst>
              <a:gd name="adj" fmla="val 15000"/>
            </a:avLst>
          </a:prstGeom>
          <a:solidFill>
            <a:srgbClr val="F7FAF7"/>
          </a:solidFill>
          <a:ln w="9525">
            <a:solidFill>
              <a:srgbClr val="D6DDD7"/>
            </a:solidFill>
            <a:prstDash val="solid"/>
          </a:ln>
        </p:spPr>
      </p:sp>
      <p:sp>
        <p:nvSpPr>
          <p:cNvPr id="10" name="Text 8"/>
          <p:cNvSpPr txBox="1"/>
          <p:nvPr/>
        </p:nvSpPr>
        <p:spPr>
          <a:xfrm>
            <a:off x="6172200" y="1143000"/>
            <a:ext cx="2377440" cy="320040"/>
          </a:xfrm>
          <a:prstGeom prst="rect">
            <a:avLst/>
          </a:prstGeom>
          <a:noFill/>
          <a:ln/>
        </p:spPr>
        <p:txBody>
          <a:bodyPr wrap="square" lIns="0" tIns="0" rIns="0" bIns="0" rtlCol="0" anchor="ctr"/>
          <a:lstStyle/>
          <a:p>
            <a:pPr indent="0" marL="0">
              <a:buNone/>
            </a:pPr>
            <a:r>
              <a:rPr lang="en-US" sz="1300" b="1" dirty="0">
                <a:solidFill>
                  <a:srgbClr val="1D231F"/>
                </a:solidFill>
                <a:latin typeface="Calibri" pitchFamily="34" charset="0"/>
                <a:ea typeface="Calibri" pitchFamily="34" charset="-122"/>
                <a:cs typeface="Calibri" pitchFamily="34" charset="-120"/>
              </a:rPr>
              <a:t>MRL Passport page</a:t>
            </a:r>
            <a:endParaRPr lang="en-US" sz="1300" dirty="0"/>
          </a:p>
        </p:txBody>
      </p:sp>
      <p:sp>
        <p:nvSpPr>
          <p:cNvPr id="11" name="Text 9"/>
          <p:cNvSpPr txBox="1"/>
          <p:nvPr/>
        </p:nvSpPr>
        <p:spPr>
          <a:xfrm>
            <a:off x="6172200" y="1463040"/>
            <a:ext cx="2377440" cy="27432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Public link behind the QR</a:t>
            </a:r>
            <a:endParaRPr lang="en-US" sz="1050" dirty="0"/>
          </a:p>
        </p:txBody>
      </p:sp>
      <p:sp>
        <p:nvSpPr>
          <p:cNvPr id="12" name="Shape 10"/>
          <p:cNvSpPr/>
          <p:nvPr/>
        </p:nvSpPr>
        <p:spPr>
          <a:xfrm>
            <a:off x="457200" y="1965960"/>
            <a:ext cx="8229600" cy="548640"/>
          </a:xfrm>
          <a:prstGeom prst="roundRect">
            <a:avLst>
              <a:gd name="adj" fmla="val 20000"/>
            </a:avLst>
          </a:prstGeom>
          <a:solidFill>
            <a:srgbClr val="F7FAF7"/>
          </a:solidFill>
          <a:ln w="9525">
            <a:solidFill>
              <a:srgbClr val="D6DDD7"/>
            </a:solidFill>
            <a:prstDash val="solid"/>
          </a:ln>
        </p:spPr>
      </p:sp>
      <p:sp>
        <p:nvSpPr>
          <p:cNvPr id="13" name="Text 11"/>
          <p:cNvSpPr txBox="1"/>
          <p:nvPr/>
        </p:nvSpPr>
        <p:spPr>
          <a:xfrm>
            <a:off x="594360" y="2057400"/>
            <a:ext cx="7955280" cy="320040"/>
          </a:xfrm>
          <a:prstGeom prst="rect">
            <a:avLst/>
          </a:prstGeom>
          <a:noFill/>
          <a:ln/>
        </p:spPr>
        <p:txBody>
          <a:bodyPr wrap="square" lIns="0" tIns="0" rIns="0" bIns="0" rtlCol="0" anchor="ctr"/>
          <a:lstStyle/>
          <a:p>
            <a:pPr indent="0" marL="0">
              <a:buNone/>
            </a:pPr>
            <a:r>
              <a:rPr lang="en-US" sz="1300" b="1" dirty="0">
                <a:solidFill>
                  <a:srgbClr val="1D231F"/>
                </a:solidFill>
                <a:latin typeface="Calibri" pitchFamily="34" charset="0"/>
                <a:ea typeface="Calibri" pitchFamily="34" charset="-122"/>
                <a:cs typeface="Calibri" pitchFamily="34" charset="-120"/>
              </a:rPr>
              <a:t>FastAPI backend</a:t>
            </a:r>
            <a:endParaRPr lang="en-US" sz="1300" dirty="0"/>
          </a:p>
        </p:txBody>
      </p:sp>
      <p:sp>
        <p:nvSpPr>
          <p:cNvPr id="14" name="Text 12"/>
          <p:cNvSpPr txBox="1"/>
          <p:nvPr/>
        </p:nvSpPr>
        <p:spPr>
          <a:xfrm>
            <a:off x="594360" y="2377440"/>
            <a:ext cx="7955280" cy="9144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/scan  /bill  /mix-check  /dose  /spray-log  /passport  /sos  /weather-window  /radar</a:t>
            </a:r>
            <a:endParaRPr lang="en-US" sz="1050" dirty="0"/>
          </a:p>
        </p:txBody>
      </p:sp>
      <p:sp>
        <p:nvSpPr>
          <p:cNvPr id="15" name="Shape 13"/>
          <p:cNvSpPr/>
          <p:nvPr/>
        </p:nvSpPr>
        <p:spPr>
          <a:xfrm>
            <a:off x="457200" y="2697480"/>
            <a:ext cx="2651760" cy="1005840"/>
          </a:xfrm>
          <a:prstGeom prst="roundRect">
            <a:avLst>
              <a:gd name="adj" fmla="val 10909"/>
            </a:avLst>
          </a:prstGeom>
          <a:solidFill>
            <a:srgbClr val="F7FAF7"/>
          </a:solidFill>
          <a:ln w="9525">
            <a:solidFill>
              <a:srgbClr val="D6DDD7"/>
            </a:solidFill>
            <a:prstDash val="solid"/>
          </a:ln>
        </p:spPr>
      </p:sp>
      <p:sp>
        <p:nvSpPr>
          <p:cNvPr id="16" name="Text 14"/>
          <p:cNvSpPr txBox="1"/>
          <p:nvPr/>
        </p:nvSpPr>
        <p:spPr>
          <a:xfrm>
            <a:off x="594360" y="2788920"/>
            <a:ext cx="2377440" cy="320040"/>
          </a:xfrm>
          <a:prstGeom prst="rect">
            <a:avLst/>
          </a:prstGeom>
          <a:noFill/>
          <a:ln/>
        </p:spPr>
        <p:txBody>
          <a:bodyPr wrap="square" lIns="0" tIns="0" rIns="0" bIns="0" rtlCol="0" anchor="ctr"/>
          <a:lstStyle/>
          <a:p>
            <a:pPr indent="0" marL="0">
              <a:buNone/>
            </a:pPr>
            <a:r>
              <a:rPr lang="en-US" sz="1300" b="1" dirty="0">
                <a:solidFill>
                  <a:srgbClr val="1D231F"/>
                </a:solidFill>
                <a:latin typeface="Calibri" pitchFamily="34" charset="0"/>
                <a:ea typeface="Calibri" pitchFamily="34" charset="-122"/>
                <a:cs typeface="Calibri" pitchFamily="34" charset="-120"/>
              </a:rPr>
              <a:t>AI reading layer</a:t>
            </a:r>
            <a:endParaRPr lang="en-US" sz="1300" dirty="0"/>
          </a:p>
        </p:txBody>
      </p:sp>
      <p:sp>
        <p:nvSpPr>
          <p:cNvPr id="17" name="Text 15"/>
          <p:cNvSpPr txBox="1"/>
          <p:nvPr/>
        </p:nvSpPr>
        <p:spPr>
          <a:xfrm>
            <a:off x="594360" y="3108960"/>
            <a:ext cx="2377440" cy="54864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QR decode, OCR, LLM text to strict JSON, fuzzy match</a:t>
            </a:r>
            <a:endParaRPr lang="en-US" sz="1050" dirty="0"/>
          </a:p>
        </p:txBody>
      </p:sp>
      <p:sp>
        <p:nvSpPr>
          <p:cNvPr id="18" name="Shape 16"/>
          <p:cNvSpPr/>
          <p:nvPr/>
        </p:nvSpPr>
        <p:spPr>
          <a:xfrm>
            <a:off x="3246120" y="2697480"/>
            <a:ext cx="2651760" cy="1005840"/>
          </a:xfrm>
          <a:prstGeom prst="roundRect">
            <a:avLst>
              <a:gd name="adj" fmla="val 10909"/>
            </a:avLst>
          </a:prstGeom>
          <a:solidFill>
            <a:srgbClr val="E3F3E7"/>
          </a:solidFill>
          <a:ln w="9525">
            <a:solidFill>
              <a:srgbClr val="D6DDD7"/>
            </a:solidFill>
            <a:prstDash val="solid"/>
          </a:ln>
        </p:spPr>
      </p:sp>
      <p:sp>
        <p:nvSpPr>
          <p:cNvPr id="19" name="Text 17"/>
          <p:cNvSpPr txBox="1"/>
          <p:nvPr/>
        </p:nvSpPr>
        <p:spPr>
          <a:xfrm>
            <a:off x="3383280" y="2788920"/>
            <a:ext cx="2377440" cy="320040"/>
          </a:xfrm>
          <a:prstGeom prst="rect">
            <a:avLst/>
          </a:prstGeom>
          <a:noFill/>
          <a:ln/>
        </p:spPr>
        <p:txBody>
          <a:bodyPr wrap="square" lIns="0" tIns="0" rIns="0" bIns="0" rtlCol="0" anchor="ctr"/>
          <a:lstStyle/>
          <a:p>
            <a:pPr indent="0" marL="0">
              <a:buNone/>
            </a:pPr>
            <a:r>
              <a:rPr lang="en-US" sz="1300" b="1" dirty="0">
                <a:solidFill>
                  <a:srgbClr val="14532D"/>
                </a:solidFill>
                <a:latin typeface="Calibri" pitchFamily="34" charset="0"/>
                <a:ea typeface="Calibri" pitchFamily="34" charset="-122"/>
                <a:cs typeface="Calibri" pitchFamily="34" charset="-120"/>
              </a:rPr>
              <a:t>Rules engine R1 to R13</a:t>
            </a:r>
            <a:endParaRPr lang="en-US" sz="1300" dirty="0"/>
          </a:p>
        </p:txBody>
      </p:sp>
      <p:sp>
        <p:nvSpPr>
          <p:cNvPr id="20" name="Text 18"/>
          <p:cNvSpPr txBox="1"/>
          <p:nvPr/>
        </p:nvSpPr>
        <p:spPr>
          <a:xfrm>
            <a:off x="3383280" y="3108960"/>
            <a:ext cx="2377440" cy="54864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Rules stored as data; worst colour wins; cites file + page</a:t>
            </a:r>
            <a:endParaRPr lang="en-US" sz="1050" dirty="0"/>
          </a:p>
        </p:txBody>
      </p:sp>
      <p:sp>
        <p:nvSpPr>
          <p:cNvPr id="21" name="Shape 19"/>
          <p:cNvSpPr/>
          <p:nvPr/>
        </p:nvSpPr>
        <p:spPr>
          <a:xfrm>
            <a:off x="6035040" y="2697480"/>
            <a:ext cx="2651760" cy="1005840"/>
          </a:xfrm>
          <a:prstGeom prst="roundRect">
            <a:avLst>
              <a:gd name="adj" fmla="val 10909"/>
            </a:avLst>
          </a:prstGeom>
          <a:solidFill>
            <a:srgbClr val="F7FAF7"/>
          </a:solidFill>
          <a:ln w="9525">
            <a:solidFill>
              <a:srgbClr val="D6DDD7"/>
            </a:solidFill>
            <a:prstDash val="solid"/>
          </a:ln>
        </p:spPr>
      </p:sp>
      <p:sp>
        <p:nvSpPr>
          <p:cNvPr id="22" name="Text 20"/>
          <p:cNvSpPr txBox="1"/>
          <p:nvPr/>
        </p:nvSpPr>
        <p:spPr>
          <a:xfrm>
            <a:off x="6172200" y="2788920"/>
            <a:ext cx="2377440" cy="320040"/>
          </a:xfrm>
          <a:prstGeom prst="rect">
            <a:avLst/>
          </a:prstGeom>
          <a:noFill/>
          <a:ln/>
        </p:spPr>
        <p:txBody>
          <a:bodyPr wrap="square" lIns="0" tIns="0" rIns="0" bIns="0" rtlCol="0" anchor="ctr"/>
          <a:lstStyle/>
          <a:p>
            <a:pPr indent="0" marL="0">
              <a:buNone/>
            </a:pPr>
            <a:r>
              <a:rPr lang="en-US" sz="1300" b="1" dirty="0">
                <a:solidFill>
                  <a:srgbClr val="1D231F"/>
                </a:solidFill>
                <a:latin typeface="Calibri" pitchFamily="34" charset="0"/>
                <a:ea typeface="Calibri" pitchFamily="34" charset="-122"/>
                <a:cs typeface="Calibri" pitchFamily="34" charset="-120"/>
              </a:rPr>
              <a:t>Supporting services</a:t>
            </a:r>
            <a:endParaRPr lang="en-US" sz="1300" dirty="0"/>
          </a:p>
        </p:txBody>
      </p:sp>
      <p:sp>
        <p:nvSpPr>
          <p:cNvPr id="23" name="Text 21"/>
          <p:cNvSpPr txBox="1"/>
          <p:nvPr/>
        </p:nvSpPr>
        <p:spPr>
          <a:xfrm>
            <a:off x="6172200" y="3108960"/>
            <a:ext cx="2377440" cy="54864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Weather window, Doctor Card, batch-signal scorer</a:t>
            </a:r>
            <a:endParaRPr lang="en-US" sz="1050" dirty="0"/>
          </a:p>
        </p:txBody>
      </p:sp>
      <p:sp>
        <p:nvSpPr>
          <p:cNvPr id="24" name="Shape 22"/>
          <p:cNvSpPr/>
          <p:nvPr/>
        </p:nvSpPr>
        <p:spPr>
          <a:xfrm>
            <a:off x="457200" y="3886200"/>
            <a:ext cx="8229600" cy="685800"/>
          </a:xfrm>
          <a:prstGeom prst="roundRect">
            <a:avLst>
              <a:gd name="adj" fmla="val 16000"/>
            </a:avLst>
          </a:prstGeom>
          <a:solidFill>
            <a:srgbClr val="F7FAF7"/>
          </a:solidFill>
          <a:ln w="9525">
            <a:solidFill>
              <a:srgbClr val="D6DDD7"/>
            </a:solidFill>
            <a:prstDash val="solid"/>
          </a:ln>
        </p:spPr>
      </p:sp>
      <p:sp>
        <p:nvSpPr>
          <p:cNvPr id="25" name="Text 23"/>
          <p:cNvSpPr txBox="1"/>
          <p:nvPr/>
        </p:nvSpPr>
        <p:spPr>
          <a:xfrm>
            <a:off x="594360" y="3977640"/>
            <a:ext cx="7955280" cy="320040"/>
          </a:xfrm>
          <a:prstGeom prst="rect">
            <a:avLst/>
          </a:prstGeom>
          <a:noFill/>
          <a:ln/>
        </p:spPr>
        <p:txBody>
          <a:bodyPr wrap="square" lIns="0" tIns="0" rIns="0" bIns="0" rtlCol="0" anchor="ctr"/>
          <a:lstStyle/>
          <a:p>
            <a:pPr indent="0" marL="0">
              <a:buNone/>
            </a:pPr>
            <a:r>
              <a:rPr lang="en-US" sz="1300" b="1" dirty="0">
                <a:solidFill>
                  <a:srgbClr val="1D231F"/>
                </a:solidFill>
                <a:latin typeface="Calibri" pitchFamily="34" charset="0"/>
                <a:ea typeface="Calibri" pitchFamily="34" charset="-122"/>
                <a:cs typeface="Calibri" pitchFamily="34" charset="-120"/>
              </a:rPr>
              <a:t>Knowledge base: PostgreSQL + PostGIS</a:t>
            </a:r>
            <a:endParaRPr lang="en-US" sz="1300" dirty="0"/>
          </a:p>
        </p:txBody>
      </p:sp>
      <p:sp>
        <p:nvSpPr>
          <p:cNvPr id="26" name="Text 24"/>
          <p:cNvSpPr txBox="1"/>
          <p:nvPr/>
        </p:nvSpPr>
        <p:spPr>
          <a:xfrm>
            <a:off x="594360" y="4297680"/>
            <a:ext cx="7955280" cy="228600"/>
          </a:xfrm>
          <a:prstGeom prst="rect">
            <a:avLst/>
          </a:prstGeom>
          <a:noFill/>
          <a:ln/>
        </p:spPr>
        <p:txBody>
          <a:bodyPr wrap="square" lIns="0" tIns="0" rIns="0" bIns="0" rtlCol="0" anchor="ctr"/>
          <a:lstStyle/>
          <a:p>
            <a:pPr indent="0" marL="0">
              <a:buNone/>
            </a:pPr>
            <a:r>
              <a:rPr lang="en-US" sz="1050" dirty="0">
                <a:solidFill>
                  <a:srgbClr val="5D665F"/>
                </a:solidFill>
                <a:latin typeface="Calibri" pitchFamily="34" charset="0"/>
                <a:ea typeface="Calibri" pitchFamily="34" charset="-122"/>
                <a:cs typeface="Calibri" pitchFamily="34" charset="-120"/>
              </a:rPr>
              <a:t>label_claims, products, bans, export_flags, scans, spray_log, batch_signals, prices  ·  built from CIB&amp;RC PDFs by an offline pipeline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7"/>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D231F"/>
                </a:solidFill>
                <a:latin typeface="Cambria" pitchFamily="34" charset="0"/>
                <a:ea typeface="Cambria" pitchFamily="34" charset="-122"/>
                <a:cs typeface="Cambria" pitchFamily="34" charset="-120"/>
              </a:rPr>
              <a:t>What is built and tested</a:t>
            </a:r>
            <a:endParaRPr lang="en-US" sz="3000" dirty="0"/>
          </a:p>
        </p:txBody>
      </p:sp>
      <p:sp>
        <p:nvSpPr>
          <p:cNvPr id="3" name="Shape 1"/>
          <p:cNvSpPr/>
          <p:nvPr/>
        </p:nvSpPr>
        <p:spPr>
          <a:xfrm>
            <a:off x="457200" y="1143000"/>
            <a:ext cx="3931920" cy="1143000"/>
          </a:xfrm>
          <a:prstGeom prst="roundRect">
            <a:avLst>
              <a:gd name="adj" fmla="val 9600"/>
            </a:avLst>
          </a:prstGeom>
          <a:solidFill>
            <a:srgbClr val="FFFFFF"/>
          </a:solidFill>
          <a:ln w="9525">
            <a:solidFill>
              <a:srgbClr val="D6DDD7"/>
            </a:solidFill>
            <a:prstDash val="solid"/>
          </a:ln>
        </p:spPr>
      </p:sp>
      <p:sp>
        <p:nvSpPr>
          <p:cNvPr id="4" name="Text 2"/>
          <p:cNvSpPr txBox="1"/>
          <p:nvPr/>
        </p:nvSpPr>
        <p:spPr>
          <a:xfrm>
            <a:off x="685800" y="1280160"/>
            <a:ext cx="1737360" cy="868680"/>
          </a:xfrm>
          <a:prstGeom prst="rect">
            <a:avLst/>
          </a:prstGeom>
          <a:noFill/>
          <a:ln/>
        </p:spPr>
        <p:txBody>
          <a:bodyPr wrap="square" lIns="0" tIns="0" rIns="0" bIns="0" rtlCol="0" anchor="ctr"/>
          <a:lstStyle/>
          <a:p>
            <a:pPr indent="0" marL="0">
              <a:buNone/>
            </a:pPr>
            <a:r>
              <a:rPr lang="en-US" sz="3600" b="1" dirty="0">
                <a:solidFill>
                  <a:srgbClr val="1F7A3A"/>
                </a:solidFill>
                <a:latin typeface="Cambria" pitchFamily="34" charset="0"/>
                <a:ea typeface="Cambria" pitchFamily="34" charset="-122"/>
                <a:cs typeface="Cambria" pitchFamily="34" charset="-120"/>
              </a:rPr>
              <a:t>79</a:t>
            </a:r>
            <a:endParaRPr lang="en-US" sz="3600" dirty="0"/>
          </a:p>
        </p:txBody>
      </p:sp>
      <p:sp>
        <p:nvSpPr>
          <p:cNvPr id="5" name="Text 3"/>
          <p:cNvSpPr txBox="1"/>
          <p:nvPr/>
        </p:nvSpPr>
        <p:spPr>
          <a:xfrm>
            <a:off x="2423160" y="1325880"/>
            <a:ext cx="1828800" cy="777240"/>
          </a:xfrm>
          <a:prstGeom prst="rect">
            <a:avLst/>
          </a:prstGeom>
          <a:noFill/>
          <a:ln/>
        </p:spPr>
        <p:txBody>
          <a:bodyPr wrap="square" lIns="0" tIns="0" rIns="0" bIns="0" rtlCol="0" anchor="ctr"/>
          <a:lstStyle/>
          <a:p>
            <a:pPr indent="0" marL="0">
              <a:buNone/>
            </a:pPr>
            <a:r>
              <a:rPr lang="en-US" sz="1300" dirty="0">
                <a:solidFill>
                  <a:srgbClr val="1D231F"/>
                </a:solidFill>
                <a:latin typeface="Calibri" pitchFamily="34" charset="0"/>
                <a:ea typeface="Calibri" pitchFamily="34" charset="-122"/>
                <a:cs typeface="Calibri" pitchFamily="34" charset="-120"/>
              </a:rPr>
              <a:t>automated tests passing (rules, API, pipeline)</a:t>
            </a:r>
            <a:endParaRPr lang="en-US" sz="1300" dirty="0"/>
          </a:p>
        </p:txBody>
      </p:sp>
      <p:sp>
        <p:nvSpPr>
          <p:cNvPr id="6" name="Shape 4"/>
          <p:cNvSpPr/>
          <p:nvPr/>
        </p:nvSpPr>
        <p:spPr>
          <a:xfrm>
            <a:off x="4663440" y="1143000"/>
            <a:ext cx="3931920" cy="1143000"/>
          </a:xfrm>
          <a:prstGeom prst="roundRect">
            <a:avLst>
              <a:gd name="adj" fmla="val 9600"/>
            </a:avLst>
          </a:prstGeom>
          <a:solidFill>
            <a:srgbClr val="FFFFFF"/>
          </a:solidFill>
          <a:ln w="9525">
            <a:solidFill>
              <a:srgbClr val="D6DDD7"/>
            </a:solidFill>
            <a:prstDash val="solid"/>
          </a:ln>
        </p:spPr>
      </p:sp>
      <p:sp>
        <p:nvSpPr>
          <p:cNvPr id="7" name="Text 5"/>
          <p:cNvSpPr txBox="1"/>
          <p:nvPr/>
        </p:nvSpPr>
        <p:spPr>
          <a:xfrm>
            <a:off x="4892040" y="1280160"/>
            <a:ext cx="1737360" cy="868680"/>
          </a:xfrm>
          <a:prstGeom prst="rect">
            <a:avLst/>
          </a:prstGeom>
          <a:noFill/>
          <a:ln/>
        </p:spPr>
        <p:txBody>
          <a:bodyPr wrap="square" lIns="0" tIns="0" rIns="0" bIns="0" rtlCol="0" anchor="ctr"/>
          <a:lstStyle/>
          <a:p>
            <a:pPr indent="0" marL="0">
              <a:buNone/>
            </a:pPr>
            <a:r>
              <a:rPr lang="en-US" sz="3600" b="1" dirty="0">
                <a:solidFill>
                  <a:srgbClr val="1F7A3A"/>
                </a:solidFill>
                <a:latin typeface="Cambria" pitchFamily="34" charset="0"/>
                <a:ea typeface="Cambria" pitchFamily="34" charset="-122"/>
                <a:cs typeface="Cambria" pitchFamily="34" charset="-120"/>
              </a:rPr>
              <a:t>30 / 30</a:t>
            </a:r>
            <a:endParaRPr lang="en-US" sz="3600" dirty="0"/>
          </a:p>
        </p:txBody>
      </p:sp>
      <p:sp>
        <p:nvSpPr>
          <p:cNvPr id="8" name="Text 6"/>
          <p:cNvSpPr txBox="1"/>
          <p:nvPr/>
        </p:nvSpPr>
        <p:spPr>
          <a:xfrm>
            <a:off x="6629400" y="1325880"/>
            <a:ext cx="1828800" cy="777240"/>
          </a:xfrm>
          <a:prstGeom prst="rect">
            <a:avLst/>
          </a:prstGeom>
          <a:noFill/>
          <a:ln/>
        </p:spPr>
        <p:txBody>
          <a:bodyPr wrap="square" lIns="0" tIns="0" rIns="0" bIns="0" rtlCol="0" anchor="ctr"/>
          <a:lstStyle/>
          <a:p>
            <a:pPr indent="0" marL="0">
              <a:buNone/>
            </a:pPr>
            <a:r>
              <a:rPr lang="en-US" sz="1300" dirty="0">
                <a:solidFill>
                  <a:srgbClr val="1D231F"/>
                </a:solidFill>
                <a:latin typeface="Calibri" pitchFamily="34" charset="0"/>
                <a:ea typeface="Calibri" pitchFamily="34" charset="-122"/>
                <a:cs typeface="Calibri" pitchFamily="34" charset="-120"/>
              </a:rPr>
              <a:t>knowledge-base questions answered correctly</a:t>
            </a:r>
            <a:endParaRPr lang="en-US" sz="1300" dirty="0"/>
          </a:p>
        </p:txBody>
      </p:sp>
      <p:sp>
        <p:nvSpPr>
          <p:cNvPr id="9" name="Shape 7"/>
          <p:cNvSpPr/>
          <p:nvPr/>
        </p:nvSpPr>
        <p:spPr>
          <a:xfrm>
            <a:off x="457200" y="2468880"/>
            <a:ext cx="3931920" cy="1143000"/>
          </a:xfrm>
          <a:prstGeom prst="roundRect">
            <a:avLst>
              <a:gd name="adj" fmla="val 9600"/>
            </a:avLst>
          </a:prstGeom>
          <a:solidFill>
            <a:srgbClr val="FFFFFF"/>
          </a:solidFill>
          <a:ln w="9525">
            <a:solidFill>
              <a:srgbClr val="D6DDD7"/>
            </a:solidFill>
            <a:prstDash val="solid"/>
          </a:ln>
        </p:spPr>
      </p:sp>
      <p:sp>
        <p:nvSpPr>
          <p:cNvPr id="10" name="Text 8"/>
          <p:cNvSpPr txBox="1"/>
          <p:nvPr/>
        </p:nvSpPr>
        <p:spPr>
          <a:xfrm>
            <a:off x="685800" y="2606040"/>
            <a:ext cx="1737360" cy="868680"/>
          </a:xfrm>
          <a:prstGeom prst="rect">
            <a:avLst/>
          </a:prstGeom>
          <a:noFill/>
          <a:ln/>
        </p:spPr>
        <p:txBody>
          <a:bodyPr wrap="square" lIns="0" tIns="0" rIns="0" bIns="0" rtlCol="0" anchor="ctr"/>
          <a:lstStyle/>
          <a:p>
            <a:pPr indent="0" marL="0">
              <a:buNone/>
            </a:pPr>
            <a:r>
              <a:rPr lang="en-US" sz="3600" b="1" dirty="0">
                <a:solidFill>
                  <a:srgbClr val="1F7A3A"/>
                </a:solidFill>
                <a:latin typeface="Cambria" pitchFamily="34" charset="0"/>
                <a:ea typeface="Cambria" pitchFamily="34" charset="-122"/>
                <a:cs typeface="Cambria" pitchFamily="34" charset="-120"/>
              </a:rPr>
              <a:t>13</a:t>
            </a:r>
            <a:endParaRPr lang="en-US" sz="3600" dirty="0"/>
          </a:p>
        </p:txBody>
      </p:sp>
      <p:sp>
        <p:nvSpPr>
          <p:cNvPr id="11" name="Text 9"/>
          <p:cNvSpPr txBox="1"/>
          <p:nvPr/>
        </p:nvSpPr>
        <p:spPr>
          <a:xfrm>
            <a:off x="2423160" y="2651760"/>
            <a:ext cx="1828800" cy="777240"/>
          </a:xfrm>
          <a:prstGeom prst="rect">
            <a:avLst/>
          </a:prstGeom>
          <a:noFill/>
          <a:ln/>
        </p:spPr>
        <p:txBody>
          <a:bodyPr wrap="square" lIns="0" tIns="0" rIns="0" bIns="0" rtlCol="0" anchor="ctr"/>
          <a:lstStyle/>
          <a:p>
            <a:pPr indent="0" marL="0">
              <a:buNone/>
            </a:pPr>
            <a:r>
              <a:rPr lang="en-US" sz="1300" dirty="0">
                <a:solidFill>
                  <a:srgbClr val="1D231F"/>
                </a:solidFill>
                <a:latin typeface="Calibri" pitchFamily="34" charset="0"/>
                <a:ea typeface="Calibri" pitchFamily="34" charset="-122"/>
                <a:cs typeface="Calibri" pitchFamily="34" charset="-120"/>
              </a:rPr>
              <a:t>verdict rules, each citing its source</a:t>
            </a:r>
            <a:endParaRPr lang="en-US" sz="1300" dirty="0"/>
          </a:p>
        </p:txBody>
      </p:sp>
      <p:sp>
        <p:nvSpPr>
          <p:cNvPr id="12" name="Shape 10"/>
          <p:cNvSpPr/>
          <p:nvPr/>
        </p:nvSpPr>
        <p:spPr>
          <a:xfrm>
            <a:off x="4663440" y="2468880"/>
            <a:ext cx="3931920" cy="1143000"/>
          </a:xfrm>
          <a:prstGeom prst="roundRect">
            <a:avLst>
              <a:gd name="adj" fmla="val 9600"/>
            </a:avLst>
          </a:prstGeom>
          <a:solidFill>
            <a:srgbClr val="FFFFFF"/>
          </a:solidFill>
          <a:ln w="9525">
            <a:solidFill>
              <a:srgbClr val="D6DDD7"/>
            </a:solidFill>
            <a:prstDash val="solid"/>
          </a:ln>
        </p:spPr>
      </p:sp>
      <p:sp>
        <p:nvSpPr>
          <p:cNvPr id="13" name="Text 11"/>
          <p:cNvSpPr txBox="1"/>
          <p:nvPr/>
        </p:nvSpPr>
        <p:spPr>
          <a:xfrm>
            <a:off x="4892040" y="2606040"/>
            <a:ext cx="1737360" cy="868680"/>
          </a:xfrm>
          <a:prstGeom prst="rect">
            <a:avLst/>
          </a:prstGeom>
          <a:noFill/>
          <a:ln/>
        </p:spPr>
        <p:txBody>
          <a:bodyPr wrap="square" lIns="0" tIns="0" rIns="0" bIns="0" rtlCol="0" anchor="ctr"/>
          <a:lstStyle/>
          <a:p>
            <a:pPr indent="0" marL="0">
              <a:buNone/>
            </a:pPr>
            <a:r>
              <a:rPr lang="en-US" sz="3600" b="1" dirty="0">
                <a:solidFill>
                  <a:srgbClr val="1F7A3A"/>
                </a:solidFill>
                <a:latin typeface="Cambria" pitchFamily="34" charset="0"/>
                <a:ea typeface="Cambria" pitchFamily="34" charset="-122"/>
                <a:cs typeface="Cambria" pitchFamily="34" charset="-120"/>
              </a:rPr>
              <a:t>4</a:t>
            </a:r>
            <a:endParaRPr lang="en-US" sz="3600" dirty="0"/>
          </a:p>
        </p:txBody>
      </p:sp>
      <p:sp>
        <p:nvSpPr>
          <p:cNvPr id="14" name="Text 12"/>
          <p:cNvSpPr txBox="1"/>
          <p:nvPr/>
        </p:nvSpPr>
        <p:spPr>
          <a:xfrm>
            <a:off x="6629400" y="2651760"/>
            <a:ext cx="1828800" cy="777240"/>
          </a:xfrm>
          <a:prstGeom prst="rect">
            <a:avLst/>
          </a:prstGeom>
          <a:noFill/>
          <a:ln/>
        </p:spPr>
        <p:txBody>
          <a:bodyPr wrap="square" lIns="0" tIns="0" rIns="0" bIns="0" rtlCol="0" anchor="ctr"/>
          <a:lstStyle/>
          <a:p>
            <a:pPr indent="0" marL="0">
              <a:buNone/>
            </a:pPr>
            <a:r>
              <a:rPr lang="en-US" sz="1300" dirty="0">
                <a:solidFill>
                  <a:srgbClr val="1D231F"/>
                </a:solidFill>
                <a:latin typeface="Calibri" pitchFamily="34" charset="0"/>
                <a:ea typeface="Calibri" pitchFamily="34" charset="-122"/>
                <a:cs typeface="Calibri" pitchFamily="34" charset="-120"/>
              </a:rPr>
              <a:t>languages: English, Hindi, Marathi, Punjabi</a:t>
            </a:r>
            <a:endParaRPr lang="en-US" sz="1300" dirty="0"/>
          </a:p>
        </p:txBody>
      </p:sp>
      <p:sp>
        <p:nvSpPr>
          <p:cNvPr id="15" name="Text 13"/>
          <p:cNvSpPr txBox="1"/>
          <p:nvPr/>
        </p:nvSpPr>
        <p:spPr>
          <a:xfrm>
            <a:off x="457200" y="3840480"/>
            <a:ext cx="8229600" cy="640080"/>
          </a:xfrm>
          <a:prstGeom prst="rect">
            <a:avLst/>
          </a:prstGeom>
          <a:noFill/>
          <a:ln/>
        </p:spPr>
        <p:txBody>
          <a:bodyPr wrap="square" lIns="0" tIns="0" rIns="0" bIns="0" rtlCol="0" anchor="ctr"/>
          <a:lstStyle/>
          <a:p>
            <a:pPr indent="0" marL="0">
              <a:buNone/>
            </a:pPr>
            <a:r>
              <a:rPr lang="en-US" sz="1200" i="1" dirty="0">
                <a:solidFill>
                  <a:srgbClr val="A86A00"/>
                </a:solidFill>
                <a:latin typeface="Calibri" pitchFamily="34" charset="0"/>
                <a:ea typeface="Calibri" pitchFamily="34" charset="-122"/>
                <a:cs typeface="Calibri" pitchFamily="34" charset="-120"/>
              </a:rPr>
              <a:t>To add before the pitch: OCR + extraction accuracy on 50 real packs, and counts of products and label claims loaded from the parsed CIB&amp;RC PDFs (current label claims are sample data).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D231F"/>
                </a:solidFill>
                <a:latin typeface="Cambria" pitchFamily="34" charset="0"/>
                <a:ea typeface="Cambria" pitchFamily="34" charset="-122"/>
                <a:cs typeface="Cambria" pitchFamily="34" charset="-120"/>
              </a:rPr>
              <a:t>Farmers never pay</a:t>
            </a:r>
            <a:endParaRPr lang="en-US" sz="3000" dirty="0"/>
          </a:p>
        </p:txBody>
      </p:sp>
      <p:sp>
        <p:nvSpPr>
          <p:cNvPr id="3" name="Shape 1"/>
          <p:cNvSpPr/>
          <p:nvPr/>
        </p:nvSpPr>
        <p:spPr>
          <a:xfrm>
            <a:off x="457200" y="1097280"/>
            <a:ext cx="8229600" cy="658368"/>
          </a:xfrm>
          <a:prstGeom prst="roundRect">
            <a:avLst>
              <a:gd name="adj" fmla="val 16667"/>
            </a:avLst>
          </a:prstGeom>
          <a:solidFill>
            <a:srgbClr val="F7FAF7"/>
          </a:solidFill>
          <a:ln w="9525">
            <a:solidFill>
              <a:srgbClr val="D6DDD7"/>
            </a:solidFill>
            <a:prstDash val="solid"/>
          </a:ln>
        </p:spPr>
      </p:sp>
      <p:sp>
        <p:nvSpPr>
          <p:cNvPr id="4" name="Shape 2"/>
          <p:cNvSpPr/>
          <p:nvPr/>
        </p:nvSpPr>
        <p:spPr>
          <a:xfrm>
            <a:off x="594360" y="1216152"/>
            <a:ext cx="420624" cy="420624"/>
          </a:xfrm>
          <a:prstGeom prst="ellipse">
            <a:avLst/>
          </a:prstGeom>
          <a:solidFill>
            <a:srgbClr val="1F7A3A"/>
          </a:solidFill>
          <a:ln w="12700">
            <a:solidFill>
              <a:srgbClr val="1F7A3A"/>
            </a:solidFill>
            <a:prstDash val="solid"/>
          </a:ln>
        </p:spPr>
      </p:sp>
      <p:sp>
        <p:nvSpPr>
          <p:cNvPr id="5" name="Text 3"/>
          <p:cNvSpPr txBox="1"/>
          <p:nvPr/>
        </p:nvSpPr>
        <p:spPr>
          <a:xfrm>
            <a:off x="594360" y="12161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188720" y="1188720"/>
            <a:ext cx="2560320" cy="475488"/>
          </a:xfrm>
          <a:prstGeom prst="rect">
            <a:avLst/>
          </a:prstGeom>
          <a:noFill/>
          <a:ln/>
        </p:spPr>
        <p:txBody>
          <a:bodyPr wrap="square" lIns="0" tIns="0" rIns="0" bIns="0" rtlCol="0" anchor="ctr"/>
          <a:lstStyle/>
          <a:p>
            <a:pPr indent="0" marL="0">
              <a:buNone/>
            </a:pPr>
            <a:r>
              <a:rPr lang="en-US" sz="1400" b="1" dirty="0">
                <a:solidFill>
                  <a:srgbClr val="1D231F"/>
                </a:solidFill>
                <a:latin typeface="Calibri" pitchFamily="34" charset="0"/>
                <a:ea typeface="Calibri" pitchFamily="34" charset="-122"/>
                <a:cs typeface="Calibri" pitchFamily="34" charset="-120"/>
              </a:rPr>
              <a:t>Exporters and FPOs</a:t>
            </a:r>
            <a:endParaRPr lang="en-US" sz="1400" dirty="0"/>
          </a:p>
        </p:txBody>
      </p:sp>
      <p:sp>
        <p:nvSpPr>
          <p:cNvPr id="7" name="Text 5"/>
          <p:cNvSpPr txBox="1"/>
          <p:nvPr/>
        </p:nvSpPr>
        <p:spPr>
          <a:xfrm>
            <a:off x="3749040" y="1188720"/>
            <a:ext cx="3017520" cy="475488"/>
          </a:xfrm>
          <a:prstGeom prst="rect">
            <a:avLst/>
          </a:prstGeom>
          <a:noFill/>
          <a:ln/>
        </p:spPr>
        <p:txBody>
          <a:bodyPr wrap="square" lIns="0" tIns="0" rIns="0" bIns="0" rtlCol="0" anchor="ctr"/>
          <a:lstStyle/>
          <a:p>
            <a:pPr indent="0" marL="0">
              <a:buNone/>
            </a:pPr>
            <a:r>
              <a:rPr lang="en-US" sz="1200" dirty="0">
                <a:solidFill>
                  <a:srgbClr val="1D231F"/>
                </a:solidFill>
                <a:latin typeface="Calibri" pitchFamily="34" charset="0"/>
                <a:ea typeface="Calibri" pitchFamily="34" charset="-122"/>
                <a:cs typeface="Calibri" pitchFamily="34" charset="-120"/>
              </a:rPr>
              <a:t>MRL Passport for every member plot</a:t>
            </a:r>
            <a:endParaRPr lang="en-US" sz="1200" dirty="0"/>
          </a:p>
        </p:txBody>
      </p:sp>
      <p:sp>
        <p:nvSpPr>
          <p:cNvPr id="8" name="Text 6"/>
          <p:cNvSpPr txBox="1"/>
          <p:nvPr/>
        </p:nvSpPr>
        <p:spPr>
          <a:xfrm>
            <a:off x="6766560" y="1188720"/>
            <a:ext cx="1828800" cy="475488"/>
          </a:xfrm>
          <a:prstGeom prst="rect">
            <a:avLst/>
          </a:prstGeom>
          <a:noFill/>
          <a:ln/>
        </p:spPr>
        <p:txBody>
          <a:bodyPr wrap="square" lIns="0" tIns="0" rIns="0" bIns="0" rtlCol="0" anchor="ctr"/>
          <a:lstStyle/>
          <a:p>
            <a:pPr indent="0" marL="0">
              <a:buNone/>
            </a:pPr>
            <a:r>
              <a:rPr lang="en-US" sz="1100" i="1" dirty="0">
                <a:solidFill>
                  <a:srgbClr val="5D665F"/>
                </a:solidFill>
                <a:latin typeface="Calibri" pitchFamily="34" charset="0"/>
                <a:ea typeface="Calibri" pitchFamily="34" charset="-122"/>
                <a:cs typeface="Calibri" pitchFamily="34" charset="-120"/>
              </a:rPr>
              <a:t>per farmer per season</a:t>
            </a:r>
            <a:endParaRPr lang="en-US" sz="1100" dirty="0"/>
          </a:p>
        </p:txBody>
      </p:sp>
      <p:sp>
        <p:nvSpPr>
          <p:cNvPr id="9" name="Shape 7"/>
          <p:cNvSpPr/>
          <p:nvPr/>
        </p:nvSpPr>
        <p:spPr>
          <a:xfrm>
            <a:off x="457200" y="1874520"/>
            <a:ext cx="8229600" cy="658368"/>
          </a:xfrm>
          <a:prstGeom prst="roundRect">
            <a:avLst>
              <a:gd name="adj" fmla="val 16667"/>
            </a:avLst>
          </a:prstGeom>
          <a:solidFill>
            <a:srgbClr val="FFFFFF"/>
          </a:solidFill>
          <a:ln w="9525">
            <a:solidFill>
              <a:srgbClr val="D6DDD7"/>
            </a:solidFill>
            <a:prstDash val="solid"/>
          </a:ln>
        </p:spPr>
      </p:sp>
      <p:sp>
        <p:nvSpPr>
          <p:cNvPr id="10" name="Shape 8"/>
          <p:cNvSpPr/>
          <p:nvPr/>
        </p:nvSpPr>
        <p:spPr>
          <a:xfrm>
            <a:off x="594360" y="1993392"/>
            <a:ext cx="420624" cy="420624"/>
          </a:xfrm>
          <a:prstGeom prst="ellipse">
            <a:avLst/>
          </a:prstGeom>
          <a:solidFill>
            <a:srgbClr val="1F7A3A"/>
          </a:solidFill>
          <a:ln w="12700">
            <a:solidFill>
              <a:srgbClr val="1F7A3A"/>
            </a:solidFill>
            <a:prstDash val="solid"/>
          </a:ln>
        </p:spPr>
      </p:sp>
      <p:sp>
        <p:nvSpPr>
          <p:cNvPr id="11" name="Text 9"/>
          <p:cNvSpPr txBox="1"/>
          <p:nvPr/>
        </p:nvSpPr>
        <p:spPr>
          <a:xfrm>
            <a:off x="594360" y="19933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1188720" y="1965960"/>
            <a:ext cx="2560320" cy="475488"/>
          </a:xfrm>
          <a:prstGeom prst="rect">
            <a:avLst/>
          </a:prstGeom>
          <a:noFill/>
          <a:ln/>
        </p:spPr>
        <p:txBody>
          <a:bodyPr wrap="square" lIns="0" tIns="0" rIns="0" bIns="0" rtlCol="0" anchor="ctr"/>
          <a:lstStyle/>
          <a:p>
            <a:pPr indent="0" marL="0">
              <a:buNone/>
            </a:pPr>
            <a:r>
              <a:rPr lang="en-US" sz="1400" b="1" dirty="0">
                <a:solidFill>
                  <a:srgbClr val="1D231F"/>
                </a:solidFill>
                <a:latin typeface="Calibri" pitchFamily="34" charset="0"/>
                <a:ea typeface="Calibri" pitchFamily="34" charset="-122"/>
                <a:cs typeface="Calibri" pitchFamily="34" charset="-120"/>
              </a:rPr>
              <a:t>Agrochemical brands</a:t>
            </a:r>
            <a:endParaRPr lang="en-US" sz="1400" dirty="0"/>
          </a:p>
        </p:txBody>
      </p:sp>
      <p:sp>
        <p:nvSpPr>
          <p:cNvPr id="13" name="Text 11"/>
          <p:cNvSpPr txBox="1"/>
          <p:nvPr/>
        </p:nvSpPr>
        <p:spPr>
          <a:xfrm>
            <a:off x="3749040" y="1965960"/>
            <a:ext cx="3017520" cy="475488"/>
          </a:xfrm>
          <a:prstGeom prst="rect">
            <a:avLst/>
          </a:prstGeom>
          <a:noFill/>
          <a:ln/>
        </p:spPr>
        <p:txBody>
          <a:bodyPr wrap="square" lIns="0" tIns="0" rIns="0" bIns="0" rtlCol="0" anchor="ctr"/>
          <a:lstStyle/>
          <a:p>
            <a:pPr indent="0" marL="0">
              <a:buNone/>
            </a:pPr>
            <a:r>
              <a:rPr lang="en-US" sz="1200" dirty="0">
                <a:solidFill>
                  <a:srgbClr val="1D231F"/>
                </a:solidFill>
                <a:latin typeface="Calibri" pitchFamily="34" charset="0"/>
                <a:ea typeface="Calibri" pitchFamily="34" charset="-122"/>
                <a:cs typeface="Calibri" pitchFamily="34" charset="-120"/>
              </a:rPr>
              <a:t>Map of cloned QR codes and suspicious batches</a:t>
            </a:r>
            <a:endParaRPr lang="en-US" sz="1200" dirty="0"/>
          </a:p>
        </p:txBody>
      </p:sp>
      <p:sp>
        <p:nvSpPr>
          <p:cNvPr id="14" name="Text 12"/>
          <p:cNvSpPr txBox="1"/>
          <p:nvPr/>
        </p:nvSpPr>
        <p:spPr>
          <a:xfrm>
            <a:off x="6766560" y="1965960"/>
            <a:ext cx="1828800" cy="475488"/>
          </a:xfrm>
          <a:prstGeom prst="rect">
            <a:avLst/>
          </a:prstGeom>
          <a:noFill/>
          <a:ln/>
        </p:spPr>
        <p:txBody>
          <a:bodyPr wrap="square" lIns="0" tIns="0" rIns="0" bIns="0" rtlCol="0" anchor="ctr"/>
          <a:lstStyle/>
          <a:p>
            <a:pPr indent="0" marL="0">
              <a:buNone/>
            </a:pPr>
            <a:r>
              <a:rPr lang="en-US" sz="1100" i="1" dirty="0">
                <a:solidFill>
                  <a:srgbClr val="5D665F"/>
                </a:solidFill>
                <a:latin typeface="Calibri" pitchFamily="34" charset="0"/>
                <a:ea typeface="Calibri" pitchFamily="34" charset="-122"/>
                <a:cs typeface="Calibri" pitchFamily="34" charset="-120"/>
              </a:rPr>
              <a:t>annual data subscription</a:t>
            </a:r>
            <a:endParaRPr lang="en-US" sz="1100" dirty="0"/>
          </a:p>
        </p:txBody>
      </p:sp>
      <p:sp>
        <p:nvSpPr>
          <p:cNvPr id="15" name="Shape 13"/>
          <p:cNvSpPr/>
          <p:nvPr/>
        </p:nvSpPr>
        <p:spPr>
          <a:xfrm>
            <a:off x="457200" y="2651760"/>
            <a:ext cx="8229600" cy="658368"/>
          </a:xfrm>
          <a:prstGeom prst="roundRect">
            <a:avLst>
              <a:gd name="adj" fmla="val 16667"/>
            </a:avLst>
          </a:prstGeom>
          <a:solidFill>
            <a:srgbClr val="F7FAF7"/>
          </a:solidFill>
          <a:ln w="9525">
            <a:solidFill>
              <a:srgbClr val="D6DDD7"/>
            </a:solidFill>
            <a:prstDash val="solid"/>
          </a:ln>
        </p:spPr>
      </p:sp>
      <p:sp>
        <p:nvSpPr>
          <p:cNvPr id="16" name="Shape 14"/>
          <p:cNvSpPr/>
          <p:nvPr/>
        </p:nvSpPr>
        <p:spPr>
          <a:xfrm>
            <a:off x="594360" y="2770632"/>
            <a:ext cx="420624" cy="420624"/>
          </a:xfrm>
          <a:prstGeom prst="ellipse">
            <a:avLst/>
          </a:prstGeom>
          <a:solidFill>
            <a:srgbClr val="1F7A3A"/>
          </a:solidFill>
          <a:ln w="12700">
            <a:solidFill>
              <a:srgbClr val="1F7A3A"/>
            </a:solidFill>
            <a:prstDash val="solid"/>
          </a:ln>
        </p:spPr>
      </p:sp>
      <p:sp>
        <p:nvSpPr>
          <p:cNvPr id="17" name="Text 15"/>
          <p:cNvSpPr txBox="1"/>
          <p:nvPr/>
        </p:nvSpPr>
        <p:spPr>
          <a:xfrm>
            <a:off x="594360" y="2770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1188720" y="2743200"/>
            <a:ext cx="2560320" cy="475488"/>
          </a:xfrm>
          <a:prstGeom prst="rect">
            <a:avLst/>
          </a:prstGeom>
          <a:noFill/>
          <a:ln/>
        </p:spPr>
        <p:txBody>
          <a:bodyPr wrap="square" lIns="0" tIns="0" rIns="0" bIns="0" rtlCol="0" anchor="ctr"/>
          <a:lstStyle/>
          <a:p>
            <a:pPr indent="0" marL="0">
              <a:buNone/>
            </a:pPr>
            <a:r>
              <a:rPr lang="en-US" sz="1400" b="1" dirty="0">
                <a:solidFill>
                  <a:srgbClr val="1D231F"/>
                </a:solidFill>
                <a:latin typeface="Calibri" pitchFamily="34" charset="0"/>
                <a:ea typeface="Calibri" pitchFamily="34" charset="-122"/>
                <a:cs typeface="Calibri" pitchFamily="34" charset="-120"/>
              </a:rPr>
              <a:t>State agriculture departments</a:t>
            </a:r>
            <a:endParaRPr lang="en-US" sz="1400" dirty="0"/>
          </a:p>
        </p:txBody>
      </p:sp>
      <p:sp>
        <p:nvSpPr>
          <p:cNvPr id="19" name="Text 17"/>
          <p:cNvSpPr txBox="1"/>
          <p:nvPr/>
        </p:nvSpPr>
        <p:spPr>
          <a:xfrm>
            <a:off x="3749040" y="2743200"/>
            <a:ext cx="3017520" cy="475488"/>
          </a:xfrm>
          <a:prstGeom prst="rect">
            <a:avLst/>
          </a:prstGeom>
          <a:noFill/>
          <a:ln/>
        </p:spPr>
        <p:txBody>
          <a:bodyPr wrap="square" lIns="0" tIns="0" rIns="0" bIns="0" rtlCol="0" anchor="ctr"/>
          <a:lstStyle/>
          <a:p>
            <a:pPr indent="0" marL="0">
              <a:buNone/>
            </a:pPr>
            <a:r>
              <a:rPr lang="en-US" sz="1200" dirty="0">
                <a:solidFill>
                  <a:srgbClr val="1D231F"/>
                </a:solidFill>
                <a:latin typeface="Calibri" pitchFamily="34" charset="0"/>
                <a:ea typeface="Calibri" pitchFamily="34" charset="-122"/>
                <a:cs typeface="Calibri" pitchFamily="34" charset="-120"/>
              </a:rPr>
              <a:t>Fake-Batch Radar and dealer-level statistics</a:t>
            </a:r>
            <a:endParaRPr lang="en-US" sz="1200" dirty="0"/>
          </a:p>
        </p:txBody>
      </p:sp>
      <p:sp>
        <p:nvSpPr>
          <p:cNvPr id="20" name="Text 18"/>
          <p:cNvSpPr txBox="1"/>
          <p:nvPr/>
        </p:nvSpPr>
        <p:spPr>
          <a:xfrm>
            <a:off x="6766560" y="2743200"/>
            <a:ext cx="1828800" cy="475488"/>
          </a:xfrm>
          <a:prstGeom prst="rect">
            <a:avLst/>
          </a:prstGeom>
          <a:noFill/>
          <a:ln/>
        </p:spPr>
        <p:txBody>
          <a:bodyPr wrap="square" lIns="0" tIns="0" rIns="0" bIns="0" rtlCol="0" anchor="ctr"/>
          <a:lstStyle/>
          <a:p>
            <a:pPr indent="0" marL="0">
              <a:buNone/>
            </a:pPr>
            <a:r>
              <a:rPr lang="en-US" sz="1100" i="1" dirty="0">
                <a:solidFill>
                  <a:srgbClr val="5D665F"/>
                </a:solidFill>
                <a:latin typeface="Calibri" pitchFamily="34" charset="0"/>
                <a:ea typeface="Calibri" pitchFamily="34" charset="-122"/>
                <a:cs typeface="Calibri" pitchFamily="34" charset="-120"/>
              </a:rPr>
              <a:t>licence or grant-funded pilot</a:t>
            </a:r>
            <a:endParaRPr lang="en-US" sz="1100" dirty="0"/>
          </a:p>
        </p:txBody>
      </p:sp>
      <p:sp>
        <p:nvSpPr>
          <p:cNvPr id="21" name="Shape 19"/>
          <p:cNvSpPr/>
          <p:nvPr/>
        </p:nvSpPr>
        <p:spPr>
          <a:xfrm>
            <a:off x="457200" y="3429000"/>
            <a:ext cx="8229600" cy="658368"/>
          </a:xfrm>
          <a:prstGeom prst="roundRect">
            <a:avLst>
              <a:gd name="adj" fmla="val 16667"/>
            </a:avLst>
          </a:prstGeom>
          <a:solidFill>
            <a:srgbClr val="FFFFFF"/>
          </a:solidFill>
          <a:ln w="9525">
            <a:solidFill>
              <a:srgbClr val="D6DDD7"/>
            </a:solidFill>
            <a:prstDash val="solid"/>
          </a:ln>
        </p:spPr>
      </p:sp>
      <p:sp>
        <p:nvSpPr>
          <p:cNvPr id="22" name="Shape 20"/>
          <p:cNvSpPr/>
          <p:nvPr/>
        </p:nvSpPr>
        <p:spPr>
          <a:xfrm>
            <a:off x="594360" y="3547872"/>
            <a:ext cx="420624" cy="420624"/>
          </a:xfrm>
          <a:prstGeom prst="ellipse">
            <a:avLst/>
          </a:prstGeom>
          <a:solidFill>
            <a:srgbClr val="1F7A3A"/>
          </a:solidFill>
          <a:ln w="12700">
            <a:solidFill>
              <a:srgbClr val="1F7A3A"/>
            </a:solidFill>
            <a:prstDash val="solid"/>
          </a:ln>
        </p:spPr>
      </p:sp>
      <p:sp>
        <p:nvSpPr>
          <p:cNvPr id="23" name="Text 21"/>
          <p:cNvSpPr txBox="1"/>
          <p:nvPr/>
        </p:nvSpPr>
        <p:spPr>
          <a:xfrm>
            <a:off x="594360" y="3547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188720" y="3520440"/>
            <a:ext cx="2560320" cy="475488"/>
          </a:xfrm>
          <a:prstGeom prst="rect">
            <a:avLst/>
          </a:prstGeom>
          <a:noFill/>
          <a:ln/>
        </p:spPr>
        <p:txBody>
          <a:bodyPr wrap="square" lIns="0" tIns="0" rIns="0" bIns="0" rtlCol="0" anchor="ctr"/>
          <a:lstStyle/>
          <a:p>
            <a:pPr indent="0" marL="0">
              <a:buNone/>
            </a:pPr>
            <a:r>
              <a:rPr lang="en-US" sz="1400" b="1" dirty="0">
                <a:solidFill>
                  <a:srgbClr val="1D231F"/>
                </a:solidFill>
                <a:latin typeface="Calibri" pitchFamily="34" charset="0"/>
                <a:ea typeface="Calibri" pitchFamily="34" charset="-122"/>
                <a:cs typeface="Calibri" pitchFamily="34" charset="-120"/>
              </a:rPr>
              <a:t>Dealers</a:t>
            </a:r>
            <a:endParaRPr lang="en-US" sz="1400" dirty="0"/>
          </a:p>
        </p:txBody>
      </p:sp>
      <p:sp>
        <p:nvSpPr>
          <p:cNvPr id="25" name="Text 23"/>
          <p:cNvSpPr txBox="1"/>
          <p:nvPr/>
        </p:nvSpPr>
        <p:spPr>
          <a:xfrm>
            <a:off x="3749040" y="3520440"/>
            <a:ext cx="3017520" cy="475488"/>
          </a:xfrm>
          <a:prstGeom prst="rect">
            <a:avLst/>
          </a:prstGeom>
          <a:noFill/>
          <a:ln/>
        </p:spPr>
        <p:txBody>
          <a:bodyPr wrap="square" lIns="0" tIns="0" rIns="0" bIns="0" rtlCol="0" anchor="ctr"/>
          <a:lstStyle/>
          <a:p>
            <a:pPr indent="0" marL="0">
              <a:buNone/>
            </a:pPr>
            <a:r>
              <a:rPr lang="en-US" sz="1200" dirty="0">
                <a:solidFill>
                  <a:srgbClr val="1D231F"/>
                </a:solidFill>
                <a:latin typeface="Calibri" pitchFamily="34" charset="0"/>
                <a:ea typeface="Calibri" pitchFamily="34" charset="-122"/>
                <a:cs typeface="Calibri" pitchFamily="34" charset="-120"/>
              </a:rPr>
              <a:t>Verified Dealer badge</a:t>
            </a:r>
            <a:endParaRPr lang="en-US" sz="1200" dirty="0"/>
          </a:p>
        </p:txBody>
      </p:sp>
      <p:sp>
        <p:nvSpPr>
          <p:cNvPr id="26" name="Text 24"/>
          <p:cNvSpPr txBox="1"/>
          <p:nvPr/>
        </p:nvSpPr>
        <p:spPr>
          <a:xfrm>
            <a:off x="6766560" y="3520440"/>
            <a:ext cx="1828800" cy="475488"/>
          </a:xfrm>
          <a:prstGeom prst="rect">
            <a:avLst/>
          </a:prstGeom>
          <a:noFill/>
          <a:ln/>
        </p:spPr>
        <p:txBody>
          <a:bodyPr wrap="square" lIns="0" tIns="0" rIns="0" bIns="0" rtlCol="0" anchor="ctr"/>
          <a:lstStyle/>
          <a:p>
            <a:pPr indent="0" marL="0">
              <a:buNone/>
            </a:pPr>
            <a:r>
              <a:rPr lang="en-US" sz="1100" i="1" dirty="0">
                <a:solidFill>
                  <a:srgbClr val="5D665F"/>
                </a:solidFill>
                <a:latin typeface="Calibri" pitchFamily="34" charset="0"/>
                <a:ea typeface="Calibri" pitchFamily="34" charset="-122"/>
                <a:cs typeface="Calibri" pitchFamily="34" charset="-120"/>
              </a:rPr>
              <a:t>small monthly fee</a:t>
            </a:r>
            <a:endParaRPr lang="en-US" sz="1100" dirty="0"/>
          </a:p>
        </p:txBody>
      </p:sp>
      <p:sp>
        <p:nvSpPr>
          <p:cNvPr id="27" name="Text 25"/>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300" b="1" dirty="0">
                <a:solidFill>
                  <a:srgbClr val="14532D"/>
                </a:solidFill>
                <a:latin typeface="Calibri" pitchFamily="34" charset="0"/>
                <a:ea typeface="Calibri" pitchFamily="34" charset="-122"/>
                <a:cs typeface="Calibri" pitchFamily="34" charset="-120"/>
              </a:rPr>
              <a:t>Impact: farmer health, money saved at the shop, food safety, export income.</a:t>
            </a:r>
            <a:endParaRPr lang="en-US" sz="1300" dirty="0"/>
          </a:p>
        </p:txBody>
      </p:sp>
      <p:sp>
        <p:nvSpPr>
          <p:cNvPr id="28" name="Text 26"/>
          <p:cNvSpPr txBox="1"/>
          <p:nvPr/>
        </p:nvSpPr>
        <p:spPr>
          <a:xfrm>
            <a:off x="457200" y="4754880"/>
            <a:ext cx="8229600" cy="256032"/>
          </a:xfrm>
          <a:prstGeom prst="rect">
            <a:avLst/>
          </a:prstGeom>
          <a:noFill/>
          <a:ln/>
        </p:spPr>
        <p:txBody>
          <a:bodyPr wrap="square" lIns="0" tIns="0" rIns="0" bIns="0" rtlCol="0" anchor="ctr"/>
          <a:lstStyle/>
          <a:p>
            <a:pPr indent="0" marL="0">
              <a:buNone/>
            </a:pPr>
            <a:r>
              <a:rPr lang="en-US" sz="900" i="1" dirty="0">
                <a:solidFill>
                  <a:srgbClr val="5D665F"/>
                </a:solidFill>
                <a:latin typeface="Calibri" pitchFamily="34" charset="0"/>
                <a:ea typeface="Calibri" pitchFamily="34" charset="-122"/>
                <a:cs typeface="Calibri" pitchFamily="34" charset="-120"/>
              </a:rPr>
              <a:t>Pricing lines are hypotheses to validate with real customers, not researched figures.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532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Roadmap and our ask</a:t>
            </a:r>
            <a:endParaRPr lang="en-US" sz="3000" dirty="0"/>
          </a:p>
        </p:txBody>
      </p:sp>
      <p:sp>
        <p:nvSpPr>
          <p:cNvPr id="3" name="Text 1"/>
          <p:cNvSpPr txBox="1"/>
          <p:nvPr/>
        </p:nvSpPr>
        <p:spPr>
          <a:xfrm>
            <a:off x="457200" y="1143000"/>
            <a:ext cx="822960" cy="457200"/>
          </a:xfrm>
          <a:prstGeom prst="rect">
            <a:avLst/>
          </a:prstGeom>
          <a:noFill/>
          <a:ln/>
        </p:spPr>
        <p:txBody>
          <a:bodyPr wrap="square" lIns="0" tIns="0" rIns="0" bIns="0" rtlCol="0" anchor="ctr"/>
          <a:lstStyle/>
          <a:p>
            <a:pPr indent="0" marL="0">
              <a:buNone/>
            </a:pPr>
            <a:r>
              <a:rPr lang="en-US" sz="1200" b="1" dirty="0">
                <a:solidFill>
                  <a:srgbClr val="B7D3BF"/>
                </a:solidFill>
                <a:latin typeface="Calibri" pitchFamily="34" charset="0"/>
                <a:ea typeface="Calibri" pitchFamily="34" charset="-122"/>
                <a:cs typeface="Calibri" pitchFamily="34" charset="-120"/>
              </a:rPr>
              <a:t>Next</a:t>
            </a:r>
            <a:endParaRPr lang="en-US" sz="1200" dirty="0"/>
          </a:p>
        </p:txBody>
      </p:sp>
      <p:sp>
        <p:nvSpPr>
          <p:cNvPr id="4" name="Text 2"/>
          <p:cNvSpPr txBox="1"/>
          <p:nvPr/>
        </p:nvSpPr>
        <p:spPr>
          <a:xfrm>
            <a:off x="1280160" y="1143000"/>
            <a:ext cx="402336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Packaging forensics (genuine vs suspicious pack photos)</a:t>
            </a:r>
            <a:endParaRPr lang="en-US" sz="1400" dirty="0"/>
          </a:p>
        </p:txBody>
      </p:sp>
      <p:sp>
        <p:nvSpPr>
          <p:cNvPr id="5" name="Text 3"/>
          <p:cNvSpPr txBox="1"/>
          <p:nvPr/>
        </p:nvSpPr>
        <p:spPr>
          <a:xfrm>
            <a:off x="457200" y="1801368"/>
            <a:ext cx="822960" cy="457200"/>
          </a:xfrm>
          <a:prstGeom prst="rect">
            <a:avLst/>
          </a:prstGeom>
          <a:noFill/>
          <a:ln/>
        </p:spPr>
        <p:txBody>
          <a:bodyPr wrap="square" lIns="0" tIns="0" rIns="0" bIns="0" rtlCol="0" anchor="ctr"/>
          <a:lstStyle/>
          <a:p>
            <a:pPr indent="0" marL="0">
              <a:buNone/>
            </a:pPr>
            <a:r>
              <a:rPr lang="en-US" sz="1200" b="1" dirty="0">
                <a:solidFill>
                  <a:srgbClr val="B7D3BF"/>
                </a:solidFill>
                <a:latin typeface="Calibri" pitchFamily="34" charset="0"/>
                <a:ea typeface="Calibri" pitchFamily="34" charset="-122"/>
                <a:cs typeface="Calibri" pitchFamily="34" charset="-120"/>
              </a:rPr>
              <a:t>Next</a:t>
            </a:r>
            <a:endParaRPr lang="en-US" sz="1200" dirty="0"/>
          </a:p>
        </p:txBody>
      </p:sp>
      <p:sp>
        <p:nvSpPr>
          <p:cNvPr id="6" name="Text 4"/>
          <p:cNvSpPr txBox="1"/>
          <p:nvPr/>
        </p:nvSpPr>
        <p:spPr>
          <a:xfrm>
            <a:off x="1280160" y="1801368"/>
            <a:ext cx="402336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IVR / missed-call access for feature phones</a:t>
            </a:r>
            <a:endParaRPr lang="en-US" sz="1400" dirty="0"/>
          </a:p>
        </p:txBody>
      </p:sp>
      <p:sp>
        <p:nvSpPr>
          <p:cNvPr id="7" name="Text 5"/>
          <p:cNvSpPr txBox="1"/>
          <p:nvPr/>
        </p:nvSpPr>
        <p:spPr>
          <a:xfrm>
            <a:off x="457200" y="2459736"/>
            <a:ext cx="822960" cy="457200"/>
          </a:xfrm>
          <a:prstGeom prst="rect">
            <a:avLst/>
          </a:prstGeom>
          <a:noFill/>
          <a:ln/>
        </p:spPr>
        <p:txBody>
          <a:bodyPr wrap="square" lIns="0" tIns="0" rIns="0" bIns="0" rtlCol="0" anchor="ctr"/>
          <a:lstStyle/>
          <a:p>
            <a:pPr indent="0" marL="0">
              <a:buNone/>
            </a:pPr>
            <a:r>
              <a:rPr lang="en-US" sz="1200" b="1" dirty="0">
                <a:solidFill>
                  <a:srgbClr val="B7D3BF"/>
                </a:solidFill>
                <a:latin typeface="Calibri" pitchFamily="34" charset="0"/>
                <a:ea typeface="Calibri" pitchFamily="34" charset="-122"/>
                <a:cs typeface="Calibri" pitchFamily="34" charset="-120"/>
              </a:rPr>
              <a:t>Later</a:t>
            </a:r>
            <a:endParaRPr lang="en-US" sz="1200" dirty="0"/>
          </a:p>
        </p:txBody>
      </p:sp>
      <p:sp>
        <p:nvSpPr>
          <p:cNvPr id="8" name="Text 6"/>
          <p:cNvSpPr txBox="1"/>
          <p:nvPr/>
        </p:nvSpPr>
        <p:spPr>
          <a:xfrm>
            <a:off x="1280160" y="2459736"/>
            <a:ext cx="402336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WhatsApp bot, diagnosis link, drone mode</a:t>
            </a:r>
            <a:endParaRPr lang="en-US" sz="1400" dirty="0"/>
          </a:p>
        </p:txBody>
      </p:sp>
      <p:sp>
        <p:nvSpPr>
          <p:cNvPr id="9" name="Text 7"/>
          <p:cNvSpPr txBox="1"/>
          <p:nvPr/>
        </p:nvSpPr>
        <p:spPr>
          <a:xfrm>
            <a:off x="457200" y="3118104"/>
            <a:ext cx="822960" cy="457200"/>
          </a:xfrm>
          <a:prstGeom prst="rect">
            <a:avLst/>
          </a:prstGeom>
          <a:noFill/>
          <a:ln/>
        </p:spPr>
        <p:txBody>
          <a:bodyPr wrap="square" lIns="0" tIns="0" rIns="0" bIns="0" rtlCol="0" anchor="ctr"/>
          <a:lstStyle/>
          <a:p>
            <a:pPr indent="0" marL="0">
              <a:buNone/>
            </a:pPr>
            <a:r>
              <a:rPr lang="en-US" sz="1200" b="1" dirty="0">
                <a:solidFill>
                  <a:srgbClr val="B7D3BF"/>
                </a:solidFill>
                <a:latin typeface="Calibri" pitchFamily="34" charset="0"/>
                <a:ea typeface="Calibri" pitchFamily="34" charset="-122"/>
                <a:cs typeface="Calibri" pitchFamily="34" charset="-120"/>
              </a:rPr>
              <a:t>Later</a:t>
            </a:r>
            <a:endParaRPr lang="en-US" sz="1200" dirty="0"/>
          </a:p>
        </p:txBody>
      </p:sp>
      <p:sp>
        <p:nvSpPr>
          <p:cNvPr id="10" name="Text 8"/>
          <p:cNvSpPr txBox="1"/>
          <p:nvPr/>
        </p:nvSpPr>
        <p:spPr>
          <a:xfrm>
            <a:off x="1280160" y="3118104"/>
            <a:ext cx="402336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AgriStack and Kisan Call Centre integration</a:t>
            </a:r>
            <a:endParaRPr lang="en-US" sz="1400" dirty="0"/>
          </a:p>
        </p:txBody>
      </p:sp>
      <p:sp>
        <p:nvSpPr>
          <p:cNvPr id="11" name="Shape 9"/>
          <p:cNvSpPr/>
          <p:nvPr/>
        </p:nvSpPr>
        <p:spPr>
          <a:xfrm>
            <a:off x="5669280" y="1143000"/>
            <a:ext cx="3017520" cy="2514600"/>
          </a:xfrm>
          <a:prstGeom prst="roundRect">
            <a:avLst>
              <a:gd name="adj" fmla="val 5455"/>
            </a:avLst>
          </a:prstGeom>
          <a:solidFill>
            <a:srgbClr val="FFFFFF"/>
          </a:solidFill>
          <a:ln w="12700">
            <a:solidFill>
              <a:srgbClr val="FFFFFF"/>
            </a:solidFill>
            <a:prstDash val="solid"/>
          </a:ln>
        </p:spPr>
      </p:sp>
      <p:sp>
        <p:nvSpPr>
          <p:cNvPr id="12" name="Text 10"/>
          <p:cNvSpPr txBox="1"/>
          <p:nvPr/>
        </p:nvSpPr>
        <p:spPr>
          <a:xfrm>
            <a:off x="5897880" y="1280160"/>
            <a:ext cx="2560320" cy="365760"/>
          </a:xfrm>
          <a:prstGeom prst="rect">
            <a:avLst/>
          </a:prstGeom>
          <a:noFill/>
          <a:ln/>
        </p:spPr>
        <p:txBody>
          <a:bodyPr wrap="square" lIns="0" tIns="0" rIns="0" bIns="0" rtlCol="0" anchor="ctr"/>
          <a:lstStyle/>
          <a:p>
            <a:pPr indent="0" marL="0">
              <a:buNone/>
            </a:pPr>
            <a:r>
              <a:rPr lang="en-US" sz="1600" b="1" dirty="0">
                <a:solidFill>
                  <a:srgbClr val="14532D"/>
                </a:solidFill>
                <a:latin typeface="Cambria" pitchFamily="34" charset="0"/>
                <a:ea typeface="Cambria" pitchFamily="34" charset="-122"/>
                <a:cs typeface="Cambria" pitchFamily="34" charset="-120"/>
              </a:rPr>
              <a:t>The ask</a:t>
            </a:r>
            <a:endParaRPr lang="en-US" sz="1600" dirty="0"/>
          </a:p>
        </p:txBody>
      </p:sp>
      <p:sp>
        <p:nvSpPr>
          <p:cNvPr id="13" name="Text 11"/>
          <p:cNvSpPr txBox="1"/>
          <p:nvPr/>
        </p:nvSpPr>
        <p:spPr>
          <a:xfrm>
            <a:off x="5897880" y="1691640"/>
            <a:ext cx="2560320" cy="1097280"/>
          </a:xfrm>
          <a:prstGeom prst="rect">
            <a:avLst/>
          </a:prstGeom>
          <a:noFill/>
          <a:ln/>
        </p:spPr>
        <p:txBody>
          <a:bodyPr wrap="square" lIns="0" tIns="0" rIns="0" bIns="0" rtlCol="0" anchor="ctr"/>
          <a:lstStyle/>
          <a:p>
            <a:pPr indent="0" marL="0">
              <a:buNone/>
            </a:pPr>
            <a:r>
              <a:rPr lang="en-US" sz="1300" dirty="0">
                <a:solidFill>
                  <a:srgbClr val="1D231F"/>
                </a:solidFill>
                <a:latin typeface="Calibri" pitchFamily="34" charset="0"/>
                <a:ea typeface="Calibri" pitchFamily="34" charset="-122"/>
                <a:cs typeface="Calibri" pitchFamily="34" charset="-120"/>
              </a:rPr>
              <a:t>A one-season pilot with one FPO or one district: 200 farmers growing basmati or cotton.</a:t>
            </a:r>
            <a:endParaRPr lang="en-US" sz="1300" dirty="0"/>
          </a:p>
        </p:txBody>
      </p:sp>
      <p:sp>
        <p:nvSpPr>
          <p:cNvPr id="14" name="Text 12"/>
          <p:cNvSpPr txBox="1"/>
          <p:nvPr/>
        </p:nvSpPr>
        <p:spPr>
          <a:xfrm>
            <a:off x="5897880" y="2971800"/>
            <a:ext cx="2560320" cy="457200"/>
          </a:xfrm>
          <a:prstGeom prst="rect">
            <a:avLst/>
          </a:prstGeom>
          <a:noFill/>
          <a:ln/>
        </p:spPr>
        <p:txBody>
          <a:bodyPr wrap="square" lIns="0" tIns="0" rIns="0" bIns="0" rtlCol="0" anchor="ctr"/>
          <a:lstStyle/>
          <a:p>
            <a:pPr indent="0" marL="0">
              <a:buNone/>
            </a:pPr>
            <a:r>
              <a:rPr lang="en-US" sz="1100" i="1" dirty="0">
                <a:solidFill>
                  <a:srgbClr val="5D665F"/>
                </a:solidFill>
                <a:latin typeface="Calibri" pitchFamily="34" charset="0"/>
                <a:ea typeface="Calibri" pitchFamily="34" charset="-122"/>
                <a:cs typeface="Calibri" pitchFamily="34" charset="-120"/>
              </a:rPr>
              <a:t>Demo video: add QR here</a:t>
            </a:r>
            <a:endParaRPr lang="en-US" sz="1100" dirty="0"/>
          </a:p>
        </p:txBody>
      </p:sp>
      <p:sp>
        <p:nvSpPr>
          <p:cNvPr id="15" name="Text 13"/>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300" i="1" dirty="0">
                <a:solidFill>
                  <a:srgbClr val="E8F2EA"/>
                </a:solidFill>
                <a:latin typeface="Calibri" pitchFamily="34" charset="0"/>
                <a:ea typeface="Calibri" pitchFamily="34" charset="-122"/>
                <a:cs typeface="Calibri" pitchFamily="34" charset="-120"/>
              </a:rPr>
              <a:t>DawaCheck helps farmers ask the right question at the shop. It does not replace the agriculture officer, the lab or the doctor.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DawaCheck pitch</dc:title>
  <dc:subject>PptxGenJS Presentation</dc:subject>
  <dc:creator>PptxGenJS</dc:creator>
  <cp:lastModifiedBy>PptxGenJS</cp:lastModifiedBy>
  <cp:revision>1</cp:revision>
  <dcterms:created xsi:type="dcterms:W3CDTF">2026-09-29T17:20:27Z</dcterms:created>
  <dcterms:modified xsi:type="dcterms:W3CDTF">2026-09-29T17:20:27Z</dcterms:modified>
</cp:coreProperties>
</file>